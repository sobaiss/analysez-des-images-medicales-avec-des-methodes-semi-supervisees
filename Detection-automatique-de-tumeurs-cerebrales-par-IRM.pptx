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1675"/>
  <p:notesSz cx="6858000" cy="12191675"/>
  <p:embeddedFontLst>
    <p:embeddedFont>
      <p:font typeface="Geist"/>
      <p:regular r:id="rId18"/>
      <p:bold r:id="rId19"/>
      <p:italic r:id="rId20"/>
      <p:boldItalic r:id="rId21"/>
    </p:embeddedFont>
    <p:embeddedFont>
      <p:font typeface="DM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Geist-italic.fntdata"/><Relationship Id="rId22" Type="http://schemas.openxmlformats.org/officeDocument/2006/relationships/font" Target="fonts/DMSans-regular.fntdata"/><Relationship Id="rId21" Type="http://schemas.openxmlformats.org/officeDocument/2006/relationships/font" Target="fonts/Geist-boldItalic.fntdata"/><Relationship Id="rId24" Type="http://schemas.openxmlformats.org/officeDocument/2006/relationships/font" Target="fonts/DMSans-italic.fntdata"/><Relationship Id="rId23" Type="http://schemas.openxmlformats.org/officeDocument/2006/relationships/font" Target="fonts/DMSa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DM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Geist-bold.fntdata"/><Relationship Id="rId18" Type="http://schemas.openxmlformats.org/officeDocument/2006/relationships/font" Target="fonts/Geis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f576a4701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3ef576a4701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g3ef576a4701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f576a4701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g3ef576a4701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3ef576a4701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f576a4701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ef576a4701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ef576a4701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00000"/>
        </a:solidFill>
      </p:bgPr>
    </p:bg>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2191695" cy="6858000"/>
          </a:xfrm>
          <a:prstGeom prst="rect">
            <a:avLst/>
          </a:prstGeom>
          <a:noFill/>
          <a:ln>
            <a:noFill/>
          </a:ln>
        </p:spPr>
      </p:pic>
      <p:sp>
        <p:nvSpPr>
          <p:cNvPr id="12" name="Google Shape;12;p2"/>
          <p:cNvSpPr/>
          <p:nvPr/>
        </p:nvSpPr>
        <p:spPr>
          <a:xfrm>
            <a:off x="0" y="0"/>
            <a:ext cx="12191695" cy="6858000"/>
          </a:xfrm>
          <a:prstGeom prst="rect">
            <a:avLst/>
          </a:prstGeom>
          <a:solidFill>
            <a:srgbClr val="E5F9F2">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3"/>
          </p:cNvPr>
          <p:cNvPicPr preferRelativeResize="0"/>
          <p:nvPr/>
        </p:nvPicPr>
        <p:blipFill rotWithShape="1">
          <a:blip r:embed="rId4">
            <a:alphaModFix/>
          </a:blip>
          <a:srcRect b="0" l="0" r="0" t="0"/>
          <a:stretch/>
        </p:blipFill>
        <p:spPr>
          <a:xfrm>
            <a:off x="11076875" y="65589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jpg"/><Relationship Id="rId4" Type="http://schemas.openxmlformats.org/officeDocument/2006/relationships/image" Target="../media/image12.png"/><Relationship Id="rId5" Type="http://schemas.openxmlformats.org/officeDocument/2006/relationships/image" Target="../media/image27.jpg"/><Relationship Id="rId6"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preencoded.png" id="20" name="Google Shape;20;p4"/>
          <p:cNvPicPr preferRelativeResize="0"/>
          <p:nvPr/>
        </p:nvPicPr>
        <p:blipFill rotWithShape="1">
          <a:blip r:embed="rId3">
            <a:alphaModFix/>
          </a:blip>
          <a:srcRect b="0" l="0" r="0" t="0"/>
          <a:stretch/>
        </p:blipFill>
        <p:spPr>
          <a:xfrm>
            <a:off x="0" y="0"/>
            <a:ext cx="4800480" cy="6858000"/>
          </a:xfrm>
          <a:prstGeom prst="rect">
            <a:avLst/>
          </a:prstGeom>
          <a:noFill/>
          <a:ln>
            <a:noFill/>
          </a:ln>
        </p:spPr>
      </p:pic>
      <p:sp>
        <p:nvSpPr>
          <p:cNvPr id="21" name="Google Shape;21;p4"/>
          <p:cNvSpPr/>
          <p:nvPr/>
        </p:nvSpPr>
        <p:spPr>
          <a:xfrm>
            <a:off x="5233360" y="963513"/>
            <a:ext cx="5261141" cy="58142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3650"/>
              <a:buFont typeface="Arial"/>
              <a:buNone/>
            </a:pPr>
            <a:r>
              <a:rPr b="1" i="0" lang="en-US" sz="3650" u="none" cap="none" strike="noStrike">
                <a:solidFill>
                  <a:srgbClr val="006747"/>
                </a:solidFill>
                <a:latin typeface="Arial"/>
                <a:ea typeface="Arial"/>
                <a:cs typeface="Arial"/>
                <a:sym typeface="Arial"/>
              </a:rPr>
              <a:t>BrainScanAI</a:t>
            </a:r>
            <a:endParaRPr b="0" i="0" sz="3650" u="none" cap="none" strike="noStrike">
              <a:solidFill>
                <a:schemeClr val="dk1"/>
              </a:solidFill>
              <a:latin typeface="Calibri"/>
              <a:ea typeface="Calibri"/>
              <a:cs typeface="Calibri"/>
              <a:sym typeface="Calibri"/>
            </a:endParaRPr>
          </a:p>
        </p:txBody>
      </p:sp>
      <p:sp>
        <p:nvSpPr>
          <p:cNvPr id="22" name="Google Shape;22;p4"/>
          <p:cNvSpPr/>
          <p:nvPr/>
        </p:nvSpPr>
        <p:spPr>
          <a:xfrm>
            <a:off x="5233360" y="1819672"/>
            <a:ext cx="6296860" cy="320952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5050"/>
              <a:buFont typeface="Arial"/>
              <a:buNone/>
            </a:pPr>
            <a:r>
              <a:rPr b="1" i="0" lang="en-US" sz="5050" u="none" cap="none" strike="noStrike">
                <a:solidFill>
                  <a:srgbClr val="006747"/>
                </a:solidFill>
                <a:latin typeface="Arial"/>
                <a:ea typeface="Arial"/>
                <a:cs typeface="Arial"/>
                <a:sym typeface="Arial"/>
              </a:rPr>
              <a:t>Détection automatique de tumeurs cérébrales par IRM</a:t>
            </a:r>
            <a:endParaRPr b="0" i="0" sz="5050" u="none" cap="none" strike="noStrike">
              <a:solidFill>
                <a:schemeClr val="dk1"/>
              </a:solidFill>
              <a:latin typeface="Calibri"/>
              <a:ea typeface="Calibri"/>
              <a:cs typeface="Calibri"/>
              <a:sym typeface="Calibri"/>
            </a:endParaRPr>
          </a:p>
        </p:txBody>
      </p:sp>
      <p:sp>
        <p:nvSpPr>
          <p:cNvPr id="23" name="Google Shape;23;p4"/>
          <p:cNvSpPr/>
          <p:nvPr/>
        </p:nvSpPr>
        <p:spPr>
          <a:xfrm>
            <a:off x="5233360" y="5303937"/>
            <a:ext cx="6296860" cy="59055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4B4A4A"/>
              </a:buClr>
              <a:buSzPts val="1450"/>
              <a:buFont typeface="Geist"/>
              <a:buNone/>
            </a:pPr>
            <a:r>
              <a:rPr b="0" i="0" lang="en-US" sz="1450" u="none" cap="none" strike="noStrike">
                <a:solidFill>
                  <a:srgbClr val="4B4A4A"/>
                </a:solidFill>
                <a:latin typeface="Geist"/>
                <a:ea typeface="Geist"/>
                <a:cs typeface="Geist"/>
                <a:sym typeface="Geist"/>
              </a:rPr>
              <a:t>Apprentissage semi-supervisé avec ResNet50 · </a:t>
            </a:r>
            <a:r>
              <a:rPr b="1" i="0" lang="en-US" sz="1450" u="none" cap="none" strike="noStrike">
                <a:solidFill>
                  <a:srgbClr val="4B4A4A"/>
                </a:solidFill>
                <a:latin typeface="Geist"/>
                <a:ea typeface="Geist"/>
                <a:cs typeface="Geist"/>
                <a:sym typeface="Geist"/>
              </a:rPr>
              <a:t>CurelyticsIA</a:t>
            </a:r>
            <a:r>
              <a:rPr b="0" i="0" lang="en-US" sz="1450" u="none" cap="none" strike="noStrike">
                <a:solidFill>
                  <a:srgbClr val="4B4A4A"/>
                </a:solidFill>
                <a:latin typeface="Geist"/>
                <a:ea typeface="Geist"/>
                <a:cs typeface="Geist"/>
                <a:sym typeface="Geist"/>
              </a:rPr>
              <a:t> </a:t>
            </a:r>
            <a:endParaRPr b="0" i="0" sz="1450" u="none" cap="none" strike="noStrike">
              <a:solidFill>
                <a:schemeClr val="dk1"/>
              </a:solidFill>
              <a:latin typeface="Calibri"/>
              <a:ea typeface="Calibri"/>
              <a:cs typeface="Calibri"/>
              <a:sym typeface="Calibri"/>
            </a:endParaRPr>
          </a:p>
        </p:txBody>
      </p:sp>
      <p:sp>
        <p:nvSpPr>
          <p:cNvPr id="24" name="Google Shape;24;p4"/>
          <p:cNvSpPr txBox="1"/>
          <p:nvPr/>
        </p:nvSpPr>
        <p:spPr>
          <a:xfrm>
            <a:off x="3947025" y="6005375"/>
            <a:ext cx="790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https://github.com/sobaiss/analysez-des-images-medicales-avec-des-methodes-semi-supervisees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5"/>
          <p:cNvSpPr/>
          <p:nvPr/>
        </p:nvSpPr>
        <p:spPr>
          <a:xfrm>
            <a:off x="614975" y="728475"/>
            <a:ext cx="7138200" cy="472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2950"/>
              <a:buFont typeface="Arial"/>
              <a:buNone/>
            </a:pPr>
            <a:r>
              <a:rPr b="1" i="0" lang="en-US" sz="3500" u="none" cap="none" strike="noStrike">
                <a:solidFill>
                  <a:srgbClr val="006747"/>
                </a:solidFill>
                <a:latin typeface="Arial"/>
                <a:ea typeface="Arial"/>
                <a:cs typeface="Arial"/>
                <a:sym typeface="Arial"/>
              </a:rPr>
              <a:t>Contexte &amp; Données disponibles</a:t>
            </a:r>
            <a:endParaRPr b="0" i="0" sz="3500" u="none" cap="none" strike="noStrike">
              <a:solidFill>
                <a:schemeClr val="dk1"/>
              </a:solidFill>
              <a:latin typeface="Calibri"/>
              <a:ea typeface="Calibri"/>
              <a:cs typeface="Calibri"/>
              <a:sym typeface="Calibri"/>
            </a:endParaRPr>
          </a:p>
        </p:txBody>
      </p:sp>
      <p:sp>
        <p:nvSpPr>
          <p:cNvPr id="31" name="Google Shape;31;p5"/>
          <p:cNvSpPr/>
          <p:nvPr/>
        </p:nvSpPr>
        <p:spPr>
          <a:xfrm>
            <a:off x="661475" y="1432800"/>
            <a:ext cx="6545100" cy="2165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1450"/>
              <a:buFont typeface="Geist"/>
              <a:buNone/>
            </a:pPr>
            <a:r>
              <a:rPr b="0" i="0" lang="en-US" sz="1550" u="none" cap="none" strike="noStrike">
                <a:solidFill>
                  <a:srgbClr val="4B4A4A"/>
                </a:solidFill>
                <a:latin typeface="Geist"/>
                <a:ea typeface="Geist"/>
                <a:cs typeface="Geist"/>
                <a:sym typeface="Geist"/>
              </a:rPr>
              <a:t>CurelyticsIA — startup innovante dans le domaine de la e-santé en partenariat hospitalier — vise à </a:t>
            </a:r>
            <a:r>
              <a:rPr b="1" i="0" lang="en-US" sz="1550" u="none" cap="none" strike="noStrike">
                <a:solidFill>
                  <a:srgbClr val="4B4A4A"/>
                </a:solidFill>
                <a:latin typeface="Geist"/>
                <a:ea typeface="Geist"/>
                <a:cs typeface="Geist"/>
                <a:sym typeface="Geist"/>
              </a:rPr>
              <a:t>automatiser la détection de tumeurs cérébrales sur IRM</a:t>
            </a:r>
            <a:r>
              <a:rPr b="0" i="0" lang="en-US" sz="1550" u="none" cap="none" strike="noStrike">
                <a:solidFill>
                  <a:srgbClr val="4B4A4A"/>
                </a:solidFill>
                <a:latin typeface="Geist"/>
                <a:ea typeface="Geist"/>
                <a:cs typeface="Geist"/>
                <a:sym typeface="Geist"/>
              </a:rPr>
              <a:t> pour assister les radiologues. Contrainte majeure : seulement </a:t>
            </a:r>
            <a:r>
              <a:rPr b="1" i="0" lang="en-US" sz="1550" u="none" cap="none" strike="noStrike">
                <a:solidFill>
                  <a:srgbClr val="4B4A4A"/>
                </a:solidFill>
                <a:latin typeface="Geist"/>
                <a:ea typeface="Geist"/>
                <a:cs typeface="Geist"/>
                <a:sym typeface="Geist"/>
              </a:rPr>
              <a:t>100 images sur 1 506 sont annotées</a:t>
            </a:r>
            <a:r>
              <a:rPr b="0" i="0" lang="en-US" sz="1550" u="none" cap="none" strike="noStrike">
                <a:solidFill>
                  <a:srgbClr val="4B4A4A"/>
                </a:solidFill>
                <a:latin typeface="Geist"/>
                <a:ea typeface="Geist"/>
                <a:cs typeface="Geist"/>
                <a:sym typeface="Geist"/>
              </a:rPr>
              <a:t> (6,6 %), en raison du coût et du temps d'annotation élevés. L'objectif est d'exploiter les 1 406 images non labellisées via l'apprentissage semi-supervisé.</a:t>
            </a:r>
            <a:endParaRPr b="0" i="0" sz="1550" u="none" cap="none" strike="noStrike">
              <a:solidFill>
                <a:schemeClr val="dk1"/>
              </a:solidFill>
              <a:latin typeface="Calibri"/>
              <a:ea typeface="Calibri"/>
              <a:cs typeface="Calibri"/>
              <a:sym typeface="Calibri"/>
            </a:endParaRPr>
          </a:p>
        </p:txBody>
      </p:sp>
      <p:sp>
        <p:nvSpPr>
          <p:cNvPr id="32" name="Google Shape;32;p5"/>
          <p:cNvSpPr/>
          <p:nvPr/>
        </p:nvSpPr>
        <p:spPr>
          <a:xfrm>
            <a:off x="512456" y="3463724"/>
            <a:ext cx="2817600" cy="499200"/>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B4A4A"/>
              </a:buClr>
              <a:buSzPts val="3900"/>
              <a:buFont typeface="Arial"/>
              <a:buNone/>
            </a:pPr>
            <a:r>
              <a:rPr b="1" i="0" lang="en-US" sz="3900" u="none" cap="none" strike="noStrike">
                <a:solidFill>
                  <a:srgbClr val="4B4A4A"/>
                </a:solidFill>
                <a:latin typeface="Arial"/>
                <a:ea typeface="Arial"/>
                <a:cs typeface="Arial"/>
                <a:sym typeface="Arial"/>
              </a:rPr>
              <a:t>1506</a:t>
            </a:r>
            <a:endParaRPr b="0" i="0" sz="3900" u="none" cap="none" strike="noStrike">
              <a:solidFill>
                <a:schemeClr val="dk1"/>
              </a:solidFill>
              <a:latin typeface="Calibri"/>
              <a:ea typeface="Calibri"/>
              <a:cs typeface="Calibri"/>
              <a:sym typeface="Calibri"/>
            </a:endParaRPr>
          </a:p>
        </p:txBody>
      </p:sp>
      <p:sp>
        <p:nvSpPr>
          <p:cNvPr id="33" name="Google Shape;33;p5"/>
          <p:cNvSpPr/>
          <p:nvPr/>
        </p:nvSpPr>
        <p:spPr>
          <a:xfrm>
            <a:off x="875929" y="4102420"/>
            <a:ext cx="1890300" cy="2361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450"/>
              <a:buFont typeface="Arial"/>
              <a:buNone/>
            </a:pPr>
            <a:r>
              <a:rPr b="1" i="0" lang="en-US" sz="1450" u="none" cap="none" strike="noStrike">
                <a:solidFill>
                  <a:srgbClr val="4B4A4A"/>
                </a:solidFill>
                <a:latin typeface="Arial"/>
                <a:ea typeface="Arial"/>
                <a:cs typeface="Arial"/>
                <a:sym typeface="Arial"/>
              </a:rPr>
              <a:t>Images IRM totales</a:t>
            </a:r>
            <a:endParaRPr b="0" i="0" sz="1450" u="none" cap="none" strike="noStrike">
              <a:solidFill>
                <a:schemeClr val="dk1"/>
              </a:solidFill>
              <a:latin typeface="Calibri"/>
              <a:ea typeface="Calibri"/>
              <a:cs typeface="Calibri"/>
              <a:sym typeface="Calibri"/>
            </a:endParaRPr>
          </a:p>
        </p:txBody>
      </p:sp>
      <p:sp>
        <p:nvSpPr>
          <p:cNvPr id="34" name="Google Shape;34;p5"/>
          <p:cNvSpPr/>
          <p:nvPr/>
        </p:nvSpPr>
        <p:spPr>
          <a:xfrm>
            <a:off x="4185738" y="3463724"/>
            <a:ext cx="2817600" cy="499200"/>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B4A4A"/>
              </a:buClr>
              <a:buSzPts val="3900"/>
              <a:buFont typeface="Arial"/>
              <a:buNone/>
            </a:pPr>
            <a:r>
              <a:rPr b="1" i="0" lang="en-US" sz="3900" u="none" cap="none" strike="noStrike">
                <a:solidFill>
                  <a:srgbClr val="4B4A4A"/>
                </a:solidFill>
                <a:latin typeface="Arial"/>
                <a:ea typeface="Arial"/>
                <a:cs typeface="Arial"/>
                <a:sym typeface="Arial"/>
              </a:rPr>
              <a:t>100</a:t>
            </a:r>
            <a:endParaRPr b="0" i="0" sz="3900" u="none" cap="none" strike="noStrike">
              <a:solidFill>
                <a:schemeClr val="dk1"/>
              </a:solidFill>
              <a:latin typeface="Calibri"/>
              <a:ea typeface="Calibri"/>
              <a:cs typeface="Calibri"/>
              <a:sym typeface="Calibri"/>
            </a:endParaRPr>
          </a:p>
        </p:txBody>
      </p:sp>
      <p:sp>
        <p:nvSpPr>
          <p:cNvPr id="35" name="Google Shape;35;p5"/>
          <p:cNvSpPr/>
          <p:nvPr/>
        </p:nvSpPr>
        <p:spPr>
          <a:xfrm>
            <a:off x="4373457" y="4129085"/>
            <a:ext cx="2442000" cy="2361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450"/>
              <a:buFont typeface="Arial"/>
              <a:buNone/>
            </a:pPr>
            <a:r>
              <a:rPr b="1" i="0" lang="en-US" sz="1450" u="none" cap="none" strike="noStrike">
                <a:solidFill>
                  <a:srgbClr val="4B4A4A"/>
                </a:solidFill>
                <a:latin typeface="Arial"/>
                <a:ea typeface="Arial"/>
                <a:cs typeface="Arial"/>
                <a:sym typeface="Arial"/>
              </a:rPr>
              <a:t>Images étiquetées (6,6 %)</a:t>
            </a:r>
            <a:endParaRPr b="0" i="0" sz="1450" u="none" cap="none" strike="noStrike">
              <a:solidFill>
                <a:schemeClr val="dk1"/>
              </a:solidFill>
              <a:latin typeface="Calibri"/>
              <a:ea typeface="Calibri"/>
              <a:cs typeface="Calibri"/>
              <a:sym typeface="Calibri"/>
            </a:endParaRPr>
          </a:p>
        </p:txBody>
      </p:sp>
      <p:sp>
        <p:nvSpPr>
          <p:cNvPr id="36" name="Google Shape;36;p5"/>
          <p:cNvSpPr/>
          <p:nvPr/>
        </p:nvSpPr>
        <p:spPr>
          <a:xfrm>
            <a:off x="3833522" y="4437854"/>
            <a:ext cx="3522000" cy="2178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4B4A4A"/>
              </a:buClr>
              <a:buSzPts val="1150"/>
              <a:buFont typeface="Geist"/>
              <a:buNone/>
            </a:pPr>
            <a:r>
              <a:rPr b="0" i="0" lang="en-US" sz="1150" u="none" cap="none" strike="noStrike">
                <a:solidFill>
                  <a:srgbClr val="4B4A4A"/>
                </a:solidFill>
                <a:latin typeface="Geist"/>
                <a:ea typeface="Geist"/>
                <a:cs typeface="Geist"/>
                <a:sym typeface="Geist"/>
              </a:rPr>
              <a:t>50 cancer + 50 normal — équilibré</a:t>
            </a:r>
            <a:endParaRPr b="0" i="0" sz="1150" u="none" cap="none" strike="noStrike">
              <a:solidFill>
                <a:schemeClr val="dk1"/>
              </a:solidFill>
              <a:latin typeface="Calibri"/>
              <a:ea typeface="Calibri"/>
              <a:cs typeface="Calibri"/>
              <a:sym typeface="Calibri"/>
            </a:endParaRPr>
          </a:p>
        </p:txBody>
      </p:sp>
      <p:sp>
        <p:nvSpPr>
          <p:cNvPr id="37" name="Google Shape;37;p5"/>
          <p:cNvSpPr/>
          <p:nvPr/>
        </p:nvSpPr>
        <p:spPr>
          <a:xfrm>
            <a:off x="2614785" y="5065474"/>
            <a:ext cx="2817600" cy="499200"/>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B4A4A"/>
              </a:buClr>
              <a:buSzPts val="3900"/>
              <a:buFont typeface="Arial"/>
              <a:buNone/>
            </a:pPr>
            <a:r>
              <a:rPr b="1" i="0" lang="en-US" sz="3900" u="none" cap="none" strike="noStrike">
                <a:solidFill>
                  <a:srgbClr val="4B4A4A"/>
                </a:solidFill>
                <a:latin typeface="Arial"/>
                <a:ea typeface="Arial"/>
                <a:cs typeface="Arial"/>
                <a:sym typeface="Arial"/>
              </a:rPr>
              <a:t>1406</a:t>
            </a:r>
            <a:endParaRPr b="0" i="0" sz="3900" u="none" cap="none" strike="noStrike">
              <a:solidFill>
                <a:schemeClr val="dk1"/>
              </a:solidFill>
              <a:latin typeface="Calibri"/>
              <a:ea typeface="Calibri"/>
              <a:cs typeface="Calibri"/>
              <a:sym typeface="Calibri"/>
            </a:endParaRPr>
          </a:p>
        </p:txBody>
      </p:sp>
      <p:sp>
        <p:nvSpPr>
          <p:cNvPr id="38" name="Google Shape;38;p5"/>
          <p:cNvSpPr/>
          <p:nvPr/>
        </p:nvSpPr>
        <p:spPr>
          <a:xfrm>
            <a:off x="2766090" y="5730835"/>
            <a:ext cx="2514900" cy="2361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450"/>
              <a:buFont typeface="Arial"/>
              <a:buNone/>
            </a:pPr>
            <a:r>
              <a:rPr b="1" i="0" lang="en-US" sz="1450" u="none" cap="none" strike="noStrike">
                <a:solidFill>
                  <a:srgbClr val="4B4A4A"/>
                </a:solidFill>
                <a:latin typeface="Arial"/>
                <a:ea typeface="Arial"/>
                <a:cs typeface="Arial"/>
                <a:sym typeface="Arial"/>
              </a:rPr>
              <a:t>Images sans label (93,4 %)</a:t>
            </a:r>
            <a:endParaRPr b="0" i="0" sz="1450" u="none" cap="none" strike="noStrike">
              <a:solidFill>
                <a:schemeClr val="dk1"/>
              </a:solidFill>
              <a:latin typeface="Calibri"/>
              <a:ea typeface="Calibri"/>
              <a:cs typeface="Calibri"/>
              <a:sym typeface="Calibri"/>
            </a:endParaRPr>
          </a:p>
        </p:txBody>
      </p:sp>
      <p:sp>
        <p:nvSpPr>
          <p:cNvPr id="39" name="Google Shape;39;p5"/>
          <p:cNvSpPr/>
          <p:nvPr/>
        </p:nvSpPr>
        <p:spPr>
          <a:xfrm>
            <a:off x="2262568" y="6039604"/>
            <a:ext cx="3522300" cy="2178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4B4A4A"/>
              </a:buClr>
              <a:buSzPts val="1150"/>
              <a:buFont typeface="Geist"/>
              <a:buNone/>
            </a:pPr>
            <a:r>
              <a:rPr b="0" i="0" lang="en-US" sz="1150" u="none" cap="none" strike="noStrike">
                <a:solidFill>
                  <a:srgbClr val="4B4A4A"/>
                </a:solidFill>
                <a:latin typeface="Geist"/>
                <a:ea typeface="Geist"/>
                <a:cs typeface="Geist"/>
                <a:sym typeface="Geist"/>
              </a:rPr>
              <a:t>Exploitées via apprentissage semi-supervisé</a:t>
            </a:r>
            <a:endParaRPr b="0" i="0" sz="1150" u="none" cap="none" strike="noStrike">
              <a:solidFill>
                <a:schemeClr val="dk1"/>
              </a:solidFill>
              <a:latin typeface="Calibri"/>
              <a:ea typeface="Calibri"/>
              <a:cs typeface="Calibri"/>
              <a:sym typeface="Calibri"/>
            </a:endParaRPr>
          </a:p>
        </p:txBody>
      </p:sp>
      <p:pic>
        <p:nvPicPr>
          <p:cNvPr id="40" name="Google Shape;40;p5"/>
          <p:cNvPicPr preferRelativeResize="0"/>
          <p:nvPr/>
        </p:nvPicPr>
        <p:blipFill>
          <a:blip r:embed="rId3">
            <a:alphaModFix/>
          </a:blip>
          <a:stretch>
            <a:fillRect/>
          </a:stretch>
        </p:blipFill>
        <p:spPr>
          <a:xfrm>
            <a:off x="7584875" y="152400"/>
            <a:ext cx="4454399" cy="6363428"/>
          </a:xfrm>
          <a:prstGeom prst="rect">
            <a:avLst/>
          </a:prstGeom>
          <a:noFill/>
          <a:ln>
            <a:noFill/>
          </a:ln>
        </p:spPr>
      </p:pic>
      <p:sp>
        <p:nvSpPr>
          <p:cNvPr id="41" name="Google Shape;41;p5"/>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chemeClr val="lt1"/>
                </a:solidFill>
              </a:rPr>
              <a:t>2</a:t>
            </a:r>
            <a:endParaRPr b="1" sz="16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6"/>
          <p:cNvSpPr/>
          <p:nvPr/>
        </p:nvSpPr>
        <p:spPr>
          <a:xfrm>
            <a:off x="661475" y="528340"/>
            <a:ext cx="6371173" cy="56118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3500"/>
              <a:buFont typeface="Arial"/>
              <a:buNone/>
            </a:pPr>
            <a:r>
              <a:rPr b="1" i="0" lang="en-US" sz="3500" u="none" cap="none" strike="noStrike">
                <a:solidFill>
                  <a:srgbClr val="006747"/>
                </a:solidFill>
                <a:latin typeface="Arial"/>
                <a:ea typeface="Arial"/>
                <a:cs typeface="Arial"/>
                <a:sym typeface="Arial"/>
              </a:rPr>
              <a:t>Pipeline méthodologique</a:t>
            </a:r>
            <a:endParaRPr b="0" i="0" sz="3500" u="none" cap="none" strike="noStrike">
              <a:solidFill>
                <a:schemeClr val="dk1"/>
              </a:solidFill>
              <a:latin typeface="Calibri"/>
              <a:ea typeface="Calibri"/>
              <a:cs typeface="Calibri"/>
              <a:sym typeface="Calibri"/>
            </a:endParaRPr>
          </a:p>
        </p:txBody>
      </p:sp>
      <p:sp>
        <p:nvSpPr>
          <p:cNvPr id="48" name="Google Shape;48;p6"/>
          <p:cNvSpPr/>
          <p:nvPr/>
        </p:nvSpPr>
        <p:spPr>
          <a:xfrm>
            <a:off x="661475" y="1430635"/>
            <a:ext cx="11478330" cy="28009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4A4A"/>
              </a:buClr>
              <a:buSzPts val="1400"/>
              <a:buFont typeface="Geist"/>
              <a:buNone/>
            </a:pPr>
            <a:r>
              <a:rPr b="0" i="0" lang="en-US" sz="1400" u="none" cap="none" strike="noStrike">
                <a:solidFill>
                  <a:srgbClr val="4B4A4A"/>
                </a:solidFill>
                <a:latin typeface="Geist"/>
                <a:ea typeface="Geist"/>
                <a:cs typeface="Geist"/>
                <a:sym typeface="Geist"/>
              </a:rPr>
              <a:t>Quatre étapes successives transforment les données brutes en un modèle de détection fiable, malgré 93 % d'images non annotées.</a:t>
            </a:r>
            <a:endParaRPr b="0" i="0" sz="1400" u="none" cap="none" strike="noStrike">
              <a:solidFill>
                <a:schemeClr val="dk1"/>
              </a:solidFill>
              <a:latin typeface="Calibri"/>
              <a:ea typeface="Calibri"/>
              <a:cs typeface="Calibri"/>
              <a:sym typeface="Calibri"/>
            </a:endParaRPr>
          </a:p>
        </p:txBody>
      </p:sp>
      <p:pic>
        <p:nvPicPr>
          <p:cNvPr descr="preencoded.png" id="49" name="Google Shape;49;p6"/>
          <p:cNvPicPr preferRelativeResize="0"/>
          <p:nvPr/>
        </p:nvPicPr>
        <p:blipFill rotWithShape="1">
          <a:blip r:embed="rId3">
            <a:alphaModFix/>
          </a:blip>
          <a:srcRect b="0" l="0" r="0" t="0"/>
          <a:stretch/>
        </p:blipFill>
        <p:spPr>
          <a:xfrm>
            <a:off x="2081050" y="1902625"/>
            <a:ext cx="8240823" cy="3674851"/>
          </a:xfrm>
          <a:prstGeom prst="rect">
            <a:avLst/>
          </a:prstGeom>
          <a:noFill/>
          <a:ln>
            <a:noFill/>
          </a:ln>
        </p:spPr>
      </p:pic>
      <p:sp>
        <p:nvSpPr>
          <p:cNvPr id="50" name="Google Shape;50;p6"/>
          <p:cNvSpPr/>
          <p:nvPr/>
        </p:nvSpPr>
        <p:spPr>
          <a:xfrm>
            <a:off x="8229224" y="4664239"/>
            <a:ext cx="1604400" cy="580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800"/>
              <a:buFont typeface="Arial"/>
              <a:buNone/>
            </a:pPr>
            <a:r>
              <a:rPr b="1" i="0" lang="en-US" sz="1800" u="none" cap="none" strike="noStrike">
                <a:solidFill>
                  <a:srgbClr val="4B4A4A"/>
                </a:solidFill>
                <a:latin typeface="Arial"/>
                <a:ea typeface="Arial"/>
                <a:cs typeface="Arial"/>
                <a:sym typeface="Arial"/>
              </a:rPr>
              <a:t>Pseudo</a:t>
            </a:r>
            <a:r>
              <a:rPr b="1" lang="en-US" sz="1800">
                <a:solidFill>
                  <a:srgbClr val="4B4A4A"/>
                </a:solidFill>
              </a:rPr>
              <a:t> </a:t>
            </a:r>
            <a:r>
              <a:rPr b="1" i="0" lang="en-US" sz="1800" u="none" cap="none" strike="noStrike">
                <a:solidFill>
                  <a:srgbClr val="4B4A4A"/>
                </a:solidFill>
                <a:latin typeface="Arial"/>
                <a:ea typeface="Arial"/>
                <a:cs typeface="Arial"/>
                <a:sym typeface="Arial"/>
              </a:rPr>
              <a:t>label</a:t>
            </a:r>
            <a:r>
              <a:rPr b="1" lang="en-US" sz="1800">
                <a:solidFill>
                  <a:srgbClr val="4B4A4A"/>
                </a:solidFill>
              </a:rPr>
              <a:t>lisation</a:t>
            </a:r>
            <a:endParaRPr b="0" i="0" sz="1800" u="none" cap="none" strike="noStrike">
              <a:solidFill>
                <a:schemeClr val="dk1"/>
              </a:solidFill>
              <a:latin typeface="Calibri"/>
              <a:ea typeface="Calibri"/>
              <a:cs typeface="Calibri"/>
              <a:sym typeface="Calibri"/>
            </a:endParaRPr>
          </a:p>
        </p:txBody>
      </p:sp>
      <p:sp>
        <p:nvSpPr>
          <p:cNvPr id="51" name="Google Shape;51;p6"/>
          <p:cNvSpPr/>
          <p:nvPr/>
        </p:nvSpPr>
        <p:spPr>
          <a:xfrm>
            <a:off x="6329425" y="4704850"/>
            <a:ext cx="1604400" cy="9675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800"/>
              <a:buFont typeface="Arial"/>
              <a:buNone/>
            </a:pPr>
            <a:r>
              <a:rPr b="1" i="0" lang="en-US" sz="1800" u="none" cap="none" strike="noStrike">
                <a:solidFill>
                  <a:srgbClr val="4B4A4A"/>
                </a:solidFill>
                <a:latin typeface="Arial"/>
                <a:ea typeface="Arial"/>
                <a:cs typeface="Arial"/>
                <a:sym typeface="Arial"/>
              </a:rPr>
              <a:t>Transfer &amp;</a:t>
            </a:r>
            <a:r>
              <a:rPr b="1" lang="en-US" sz="1800">
                <a:solidFill>
                  <a:srgbClr val="4B4A4A"/>
                </a:solidFill>
              </a:rPr>
              <a:t> Apprentissage supervisé</a:t>
            </a:r>
            <a:endParaRPr b="0" i="0" sz="1800" u="none" cap="none" strike="noStrike">
              <a:solidFill>
                <a:schemeClr val="dk1"/>
              </a:solidFill>
              <a:latin typeface="Calibri"/>
              <a:ea typeface="Calibri"/>
              <a:cs typeface="Calibri"/>
              <a:sym typeface="Calibri"/>
            </a:endParaRPr>
          </a:p>
        </p:txBody>
      </p:sp>
      <p:sp>
        <p:nvSpPr>
          <p:cNvPr id="52" name="Google Shape;52;p6"/>
          <p:cNvSpPr/>
          <p:nvPr/>
        </p:nvSpPr>
        <p:spPr>
          <a:xfrm>
            <a:off x="4439955" y="4704818"/>
            <a:ext cx="1507452" cy="29039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800"/>
              <a:buFont typeface="Arial"/>
              <a:buNone/>
            </a:pPr>
            <a:r>
              <a:rPr b="1" i="0" lang="en-US" sz="1800" u="none" cap="none" strike="noStrike">
                <a:solidFill>
                  <a:srgbClr val="4B4A4A"/>
                </a:solidFill>
                <a:latin typeface="Arial"/>
                <a:ea typeface="Arial"/>
                <a:cs typeface="Arial"/>
                <a:sym typeface="Arial"/>
              </a:rPr>
              <a:t>Clustering</a:t>
            </a:r>
            <a:endParaRPr b="0" i="0" sz="1800" u="none" cap="none" strike="noStrike">
              <a:solidFill>
                <a:schemeClr val="dk1"/>
              </a:solidFill>
              <a:latin typeface="Calibri"/>
              <a:ea typeface="Calibri"/>
              <a:cs typeface="Calibri"/>
              <a:sym typeface="Calibri"/>
            </a:endParaRPr>
          </a:p>
        </p:txBody>
      </p:sp>
      <p:sp>
        <p:nvSpPr>
          <p:cNvPr id="53" name="Google Shape;53;p6"/>
          <p:cNvSpPr/>
          <p:nvPr/>
        </p:nvSpPr>
        <p:spPr>
          <a:xfrm>
            <a:off x="2509178" y="4704818"/>
            <a:ext cx="1507452" cy="29039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800"/>
              <a:buFont typeface="Arial"/>
              <a:buNone/>
            </a:pPr>
            <a:r>
              <a:rPr b="1" i="0" lang="en-US" sz="1800" u="none" cap="none" strike="noStrike">
                <a:solidFill>
                  <a:srgbClr val="4B4A4A"/>
                </a:solidFill>
                <a:latin typeface="Arial"/>
                <a:ea typeface="Arial"/>
                <a:cs typeface="Arial"/>
                <a:sym typeface="Arial"/>
              </a:rPr>
              <a:t>Extraction</a:t>
            </a:r>
            <a:endParaRPr b="0" i="0" sz="1800" u="none" cap="none" strike="noStrike">
              <a:solidFill>
                <a:schemeClr val="dk1"/>
              </a:solidFill>
              <a:latin typeface="Calibri"/>
              <a:ea typeface="Calibri"/>
              <a:cs typeface="Calibri"/>
              <a:sym typeface="Calibri"/>
            </a:endParaRPr>
          </a:p>
        </p:txBody>
      </p:sp>
      <p:sp>
        <p:nvSpPr>
          <p:cNvPr id="54" name="Google Shape;54;p6"/>
          <p:cNvSpPr/>
          <p:nvPr/>
        </p:nvSpPr>
        <p:spPr>
          <a:xfrm>
            <a:off x="661475" y="5769372"/>
            <a:ext cx="10868745" cy="56018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4A4A"/>
              </a:buClr>
              <a:buSzPts val="1400"/>
              <a:buFont typeface="Geist"/>
              <a:buNone/>
            </a:pPr>
            <a:r>
              <a:rPr b="0" i="0" lang="en-US" sz="1400" u="none" cap="none" strike="noStrike">
                <a:solidFill>
                  <a:srgbClr val="4B4A4A"/>
                </a:solidFill>
                <a:latin typeface="Geist"/>
                <a:ea typeface="Geist"/>
                <a:cs typeface="Geist"/>
                <a:sym typeface="Geist"/>
              </a:rPr>
              <a:t>Le </a:t>
            </a:r>
            <a:r>
              <a:rPr b="1" i="0" lang="en-US" sz="1400" u="none" cap="none" strike="noStrike">
                <a:solidFill>
                  <a:srgbClr val="4B4A4A"/>
                </a:solidFill>
                <a:latin typeface="Geist"/>
                <a:ea typeface="Geist"/>
                <a:cs typeface="Geist"/>
                <a:sym typeface="Geist"/>
              </a:rPr>
              <a:t>warm start sur weak labels</a:t>
            </a:r>
            <a:r>
              <a:rPr b="0" i="0" lang="en-US" sz="1400" u="none" cap="none" strike="noStrike">
                <a:solidFill>
                  <a:srgbClr val="4B4A4A"/>
                </a:solidFill>
                <a:latin typeface="Geist"/>
                <a:ea typeface="Geist"/>
                <a:cs typeface="Geist"/>
                <a:sym typeface="Geist"/>
              </a:rPr>
              <a:t> structure l'espace des features avant le fine-tuning — étape clé pour atteindre des performances quasi-parfaites avec très peu d'annotations.</a:t>
            </a:r>
            <a:endParaRPr b="0" i="0" sz="1400" u="none" cap="none" strike="noStrike">
              <a:solidFill>
                <a:schemeClr val="dk1"/>
              </a:solidFill>
              <a:latin typeface="Calibri"/>
              <a:ea typeface="Calibri"/>
              <a:cs typeface="Calibri"/>
              <a:sym typeface="Calibri"/>
            </a:endParaRPr>
          </a:p>
        </p:txBody>
      </p:sp>
      <p:sp>
        <p:nvSpPr>
          <p:cNvPr id="55" name="Google Shape;55;p6"/>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chemeClr val="lt1"/>
                </a:solidFill>
              </a:rPr>
              <a:t>3</a:t>
            </a:r>
            <a:endParaRPr b="1" sz="16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7"/>
          <p:cNvSpPr/>
          <p:nvPr/>
        </p:nvSpPr>
        <p:spPr>
          <a:xfrm>
            <a:off x="661475" y="694730"/>
            <a:ext cx="10011318" cy="53161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3300"/>
              <a:buFont typeface="Arial"/>
              <a:buNone/>
            </a:pPr>
            <a:r>
              <a:rPr b="1" lang="en-US" sz="3300">
                <a:solidFill>
                  <a:srgbClr val="006747"/>
                </a:solidFill>
              </a:rPr>
              <a:t>Etape 2: Prétraitement du signal visuel</a:t>
            </a:r>
            <a:endParaRPr b="0" i="0" sz="3300" u="none" cap="none" strike="noStrike">
              <a:solidFill>
                <a:schemeClr val="dk1"/>
              </a:solidFill>
              <a:latin typeface="Calibri"/>
              <a:ea typeface="Calibri"/>
              <a:cs typeface="Calibri"/>
              <a:sym typeface="Calibri"/>
            </a:endParaRPr>
          </a:p>
        </p:txBody>
      </p:sp>
      <p:sp>
        <p:nvSpPr>
          <p:cNvPr id="62" name="Google Shape;62;p7"/>
          <p:cNvSpPr txBox="1"/>
          <p:nvPr/>
        </p:nvSpPr>
        <p:spPr>
          <a:xfrm>
            <a:off x="5191779" y="1616900"/>
            <a:ext cx="5432400" cy="23100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4155"/>
                </a:solidFill>
                <a:latin typeface="DM Sans"/>
                <a:ea typeface="DM Sans"/>
                <a:cs typeface="DM Sans"/>
                <a:sym typeface="DM Sans"/>
              </a:rPr>
              <a:t>Redimensionnement :</a:t>
            </a:r>
            <a:r>
              <a:rPr b="0" i="0" lang="en-US" sz="1500" u="none" cap="none" strike="noStrike">
                <a:solidFill>
                  <a:srgbClr val="334155"/>
                </a:solidFill>
                <a:latin typeface="DM Sans"/>
                <a:ea typeface="DM Sans"/>
                <a:cs typeface="DM Sans"/>
                <a:sym typeface="DM Sans"/>
              </a:rPr>
              <a:t> Mise à l'échelle vers 256 pixels.</a:t>
            </a:r>
            <a:endParaRPr/>
          </a:p>
        </p:txBody>
      </p:sp>
      <p:sp>
        <p:nvSpPr>
          <p:cNvPr id="63" name="Google Shape;63;p7"/>
          <p:cNvSpPr txBox="1"/>
          <p:nvPr/>
        </p:nvSpPr>
        <p:spPr>
          <a:xfrm>
            <a:off x="5191780" y="1992725"/>
            <a:ext cx="6141300" cy="23100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4155"/>
                </a:solidFill>
                <a:latin typeface="DM Sans"/>
                <a:ea typeface="DM Sans"/>
                <a:cs typeface="DM Sans"/>
                <a:sym typeface="DM Sans"/>
              </a:rPr>
              <a:t>Centrage :</a:t>
            </a:r>
            <a:r>
              <a:rPr b="0" i="0" lang="en-US" sz="1500" u="none" cap="none" strike="noStrike">
                <a:solidFill>
                  <a:srgbClr val="334155"/>
                </a:solidFill>
                <a:latin typeface="DM Sans"/>
                <a:ea typeface="DM Sans"/>
                <a:cs typeface="DM Sans"/>
                <a:sym typeface="DM Sans"/>
              </a:rPr>
              <a:t> Recadrage central à 224x224 (format standard).</a:t>
            </a:r>
            <a:endParaRPr/>
          </a:p>
        </p:txBody>
      </p:sp>
      <p:sp>
        <p:nvSpPr>
          <p:cNvPr id="64" name="Google Shape;64;p7"/>
          <p:cNvSpPr txBox="1"/>
          <p:nvPr/>
        </p:nvSpPr>
        <p:spPr>
          <a:xfrm>
            <a:off x="5191775" y="2359615"/>
            <a:ext cx="6246000" cy="57720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334155"/>
                </a:solidFill>
                <a:latin typeface="DM Sans"/>
                <a:ea typeface="DM Sans"/>
                <a:cs typeface="DM Sans"/>
                <a:sym typeface="DM Sans"/>
              </a:rPr>
              <a:t>Normalisation :</a:t>
            </a:r>
            <a:r>
              <a:rPr b="0" i="0" lang="en-US" sz="1500" u="none" cap="none" strike="noStrike">
                <a:solidFill>
                  <a:srgbClr val="334155"/>
                </a:solidFill>
                <a:latin typeface="DM Sans"/>
                <a:ea typeface="DM Sans"/>
                <a:cs typeface="DM Sans"/>
                <a:sym typeface="DM Sans"/>
              </a:rPr>
              <a:t> Alignement sur les moyennes et écarts-types d'ImageNet.</a:t>
            </a:r>
            <a:endParaRPr/>
          </a:p>
        </p:txBody>
      </p:sp>
      <p:pic>
        <p:nvPicPr>
          <p:cNvPr id="65" name="Google Shape;65;p7"/>
          <p:cNvPicPr preferRelativeResize="0"/>
          <p:nvPr/>
        </p:nvPicPr>
        <p:blipFill>
          <a:blip r:embed="rId3">
            <a:alphaModFix/>
          </a:blip>
          <a:stretch>
            <a:fillRect/>
          </a:stretch>
        </p:blipFill>
        <p:spPr>
          <a:xfrm>
            <a:off x="1370523" y="3120200"/>
            <a:ext cx="8335300" cy="3392474"/>
          </a:xfrm>
          <a:prstGeom prst="rect">
            <a:avLst/>
          </a:prstGeom>
          <a:noFill/>
          <a:ln>
            <a:noFill/>
          </a:ln>
        </p:spPr>
      </p:pic>
      <p:sp>
        <p:nvSpPr>
          <p:cNvPr id="66" name="Google Shape;66;p7"/>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chemeClr val="lt1"/>
                </a:solidFill>
              </a:rPr>
              <a:t>4</a:t>
            </a:r>
            <a:endParaRPr b="1" sz="1600">
              <a:solidFill>
                <a:schemeClr val="lt1"/>
              </a:solidFill>
            </a:endParaRPr>
          </a:p>
        </p:txBody>
      </p:sp>
      <p:sp>
        <p:nvSpPr>
          <p:cNvPr id="67" name="Google Shape;67;p7"/>
          <p:cNvSpPr/>
          <p:nvPr/>
        </p:nvSpPr>
        <p:spPr>
          <a:xfrm>
            <a:off x="661475" y="1500875"/>
            <a:ext cx="4418100" cy="1345800"/>
          </a:xfrm>
          <a:prstGeom prst="roundRect">
            <a:avLst>
              <a:gd fmla="val 10978" name="adj"/>
            </a:avLst>
          </a:prstGeom>
          <a:solidFill>
            <a:srgbClr val="CCFFEF"/>
          </a:solidFill>
          <a:ln>
            <a:noFill/>
          </a:ln>
        </p:spPr>
        <p:txBody>
          <a:bodyPr anchorCtr="0" anchor="ctr" bIns="91425" lIns="91425" spcFirstLastPara="1" rIns="91425" wrap="square" tIns="91425">
            <a:noAutofit/>
          </a:bodyPr>
          <a:lstStyle/>
          <a:p>
            <a:pPr indent="0" lvl="0" marL="91440" rtl="0" algn="l">
              <a:lnSpc>
                <a:spcPct val="127000"/>
              </a:lnSpc>
              <a:spcBef>
                <a:spcPts val="0"/>
              </a:spcBef>
              <a:spcAft>
                <a:spcPts val="0"/>
              </a:spcAft>
              <a:buNone/>
            </a:pPr>
            <a:r>
              <a:rPr lang="en-US" sz="1500">
                <a:solidFill>
                  <a:srgbClr val="4B4A4A"/>
                </a:solidFill>
                <a:latin typeface="Geist"/>
                <a:ea typeface="Geist"/>
                <a:cs typeface="Geist"/>
                <a:sym typeface="Geist"/>
              </a:rPr>
              <a:t>Pour assurer la compatibilité avec les architectures de Deep Learning, un pipeline de normalisation strict est appliqué</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8"/>
          <p:cNvSpPr/>
          <p:nvPr/>
        </p:nvSpPr>
        <p:spPr>
          <a:xfrm>
            <a:off x="661475" y="694725"/>
            <a:ext cx="7405500" cy="531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3300"/>
              <a:buFont typeface="Arial"/>
              <a:buNone/>
            </a:pPr>
            <a:r>
              <a:rPr b="1" i="0" lang="en-US" sz="3300" u="none" cap="none" strike="noStrike">
                <a:solidFill>
                  <a:srgbClr val="006747"/>
                </a:solidFill>
                <a:latin typeface="Arial"/>
                <a:ea typeface="Arial"/>
                <a:cs typeface="Arial"/>
                <a:sym typeface="Arial"/>
              </a:rPr>
              <a:t>Étape 2 — Extraction de features</a:t>
            </a:r>
            <a:endParaRPr b="0" i="0" sz="3300" u="none" cap="none" strike="noStrike">
              <a:solidFill>
                <a:schemeClr val="dk1"/>
              </a:solidFill>
              <a:latin typeface="Calibri"/>
              <a:ea typeface="Calibri"/>
              <a:cs typeface="Calibri"/>
              <a:sym typeface="Calibri"/>
            </a:endParaRPr>
          </a:p>
        </p:txBody>
      </p:sp>
      <p:sp>
        <p:nvSpPr>
          <p:cNvPr id="74" name="Google Shape;74;p8"/>
          <p:cNvSpPr/>
          <p:nvPr/>
        </p:nvSpPr>
        <p:spPr>
          <a:xfrm>
            <a:off x="661475" y="1303025"/>
            <a:ext cx="6510300" cy="682200"/>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4B4A4A"/>
              </a:buClr>
              <a:buSzPts val="1300"/>
              <a:buFont typeface="Geist"/>
              <a:buNone/>
            </a:pPr>
            <a:r>
              <a:rPr b="0" i="0" lang="en-US" sz="1600" u="none" cap="none" strike="noStrike">
                <a:solidFill>
                  <a:srgbClr val="4B4A4A"/>
                </a:solidFill>
                <a:latin typeface="Geist"/>
                <a:ea typeface="Geist"/>
                <a:cs typeface="Geist"/>
                <a:sym typeface="Geist"/>
              </a:rPr>
              <a:t>ResNet50 pré-entraîné ImageNet (poids gelés) — hooks sur les couches intermédiaires, </a:t>
            </a:r>
            <a:r>
              <a:rPr b="1" i="0" lang="en-US" sz="1600" u="none" cap="none" strike="noStrike">
                <a:solidFill>
                  <a:srgbClr val="4B4A4A"/>
                </a:solidFill>
                <a:latin typeface="Geist"/>
                <a:ea typeface="Geist"/>
                <a:cs typeface="Geist"/>
                <a:sym typeface="Geist"/>
              </a:rPr>
              <a:t>aucun fine-tuning</a:t>
            </a:r>
            <a:r>
              <a:rPr b="0" i="0" lang="en-US" sz="1600" u="none" cap="none" strike="noStrike">
                <a:solidFill>
                  <a:srgbClr val="4B4A4A"/>
                </a:solidFill>
                <a:latin typeface="Geist"/>
                <a:ea typeface="Geist"/>
                <a:cs typeface="Geist"/>
                <a:sym typeface="Geist"/>
              </a:rPr>
              <a:t> à cette étape</a:t>
            </a:r>
            <a:r>
              <a:rPr b="0" i="0" lang="en-US" sz="1600" u="none" cap="none" strike="noStrike">
                <a:solidFill>
                  <a:srgbClr val="4B4A4A"/>
                </a:solidFill>
                <a:latin typeface="Geist"/>
                <a:ea typeface="Geist"/>
                <a:cs typeface="Geist"/>
                <a:sym typeface="Geist"/>
              </a:rPr>
              <a:t>.</a:t>
            </a:r>
            <a:endParaRPr b="0" i="0" sz="1600" u="none" cap="none" strike="noStrike">
              <a:solidFill>
                <a:schemeClr val="dk1"/>
              </a:solidFill>
              <a:latin typeface="Calibri"/>
              <a:ea typeface="Calibri"/>
              <a:cs typeface="Calibri"/>
              <a:sym typeface="Calibri"/>
            </a:endParaRPr>
          </a:p>
        </p:txBody>
      </p:sp>
      <p:sp>
        <p:nvSpPr>
          <p:cNvPr id="75" name="Google Shape;75;p8"/>
          <p:cNvSpPr/>
          <p:nvPr/>
        </p:nvSpPr>
        <p:spPr>
          <a:xfrm>
            <a:off x="661475" y="5456549"/>
            <a:ext cx="5673600" cy="1034400"/>
          </a:xfrm>
          <a:prstGeom prst="roundRect">
            <a:avLst>
              <a:gd fmla="val 10978" name="adj"/>
            </a:avLst>
          </a:prstGeom>
          <a:solidFill>
            <a:srgbClr val="CCF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6" name="Google Shape;76;p8"/>
          <p:cNvPicPr preferRelativeResize="0"/>
          <p:nvPr/>
        </p:nvPicPr>
        <p:blipFill rotWithShape="1">
          <a:blip r:embed="rId3">
            <a:alphaModFix/>
          </a:blip>
          <a:srcRect b="0" l="0" r="0" t="0"/>
          <a:stretch/>
        </p:blipFill>
        <p:spPr>
          <a:xfrm>
            <a:off x="831527" y="5634626"/>
            <a:ext cx="308775" cy="246975"/>
          </a:xfrm>
          <a:prstGeom prst="rect">
            <a:avLst/>
          </a:prstGeom>
          <a:noFill/>
          <a:ln>
            <a:noFill/>
          </a:ln>
        </p:spPr>
      </p:pic>
      <p:sp>
        <p:nvSpPr>
          <p:cNvPr id="77" name="Google Shape;77;p8"/>
          <p:cNvSpPr/>
          <p:nvPr/>
        </p:nvSpPr>
        <p:spPr>
          <a:xfrm>
            <a:off x="1214200" y="5566975"/>
            <a:ext cx="5004600" cy="1034400"/>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000000"/>
              </a:buClr>
              <a:buSzPts val="1300"/>
              <a:buFont typeface="Geist"/>
              <a:buNone/>
            </a:pPr>
            <a:r>
              <a:rPr lang="en-US">
                <a:solidFill>
                  <a:schemeClr val="dk1"/>
                </a:solidFill>
                <a:latin typeface="Geist"/>
                <a:ea typeface="Geist"/>
                <a:cs typeface="Geist"/>
                <a:sym typeface="Geist"/>
              </a:rPr>
              <a:t>La couche </a:t>
            </a:r>
            <a:r>
              <a:rPr b="1" lang="en-US">
                <a:solidFill>
                  <a:schemeClr val="dk1"/>
                </a:solidFill>
                <a:latin typeface="Geist"/>
                <a:ea typeface="Geist"/>
                <a:cs typeface="Geist"/>
                <a:sym typeface="Geist"/>
              </a:rPr>
              <a:t>avgpool</a:t>
            </a:r>
            <a:r>
              <a:rPr lang="en-US">
                <a:solidFill>
                  <a:schemeClr val="dk1"/>
                </a:solidFill>
                <a:latin typeface="Geist"/>
                <a:ea typeface="Geist"/>
                <a:cs typeface="Geist"/>
                <a:sym typeface="Geist"/>
              </a:rPr>
              <a:t> présente la plus grande variabilité de norme L2 (écart de 8,96), signe d'une expressivité sémantique supérieure adaptée à la discrimination de classes</a:t>
            </a:r>
            <a:r>
              <a:rPr lang="en-US">
                <a:solidFill>
                  <a:schemeClr val="dk1"/>
                </a:solidFill>
              </a:rPr>
              <a:t> </a:t>
            </a:r>
            <a:endParaRPr b="0" i="0" u="none" cap="none" strike="noStrike">
              <a:solidFill>
                <a:schemeClr val="dk1"/>
              </a:solidFill>
              <a:latin typeface="Calibri"/>
              <a:ea typeface="Calibri"/>
              <a:cs typeface="Calibri"/>
              <a:sym typeface="Calibri"/>
            </a:endParaRPr>
          </a:p>
        </p:txBody>
      </p:sp>
      <p:pic>
        <p:nvPicPr>
          <p:cNvPr id="78" name="Google Shape;78;p8"/>
          <p:cNvPicPr preferRelativeResize="0"/>
          <p:nvPr/>
        </p:nvPicPr>
        <p:blipFill rotWithShape="1">
          <a:blip r:embed="rId4">
            <a:alphaModFix/>
          </a:blip>
          <a:srcRect b="0" l="0" r="66440" t="0"/>
          <a:stretch/>
        </p:blipFill>
        <p:spPr>
          <a:xfrm>
            <a:off x="8403964" y="659856"/>
            <a:ext cx="2973199" cy="1930250"/>
          </a:xfrm>
          <a:prstGeom prst="rect">
            <a:avLst/>
          </a:prstGeom>
          <a:noFill/>
          <a:ln>
            <a:noFill/>
          </a:ln>
        </p:spPr>
      </p:pic>
      <p:pic>
        <p:nvPicPr>
          <p:cNvPr id="79" name="Google Shape;79;p8"/>
          <p:cNvPicPr preferRelativeResize="0"/>
          <p:nvPr/>
        </p:nvPicPr>
        <p:blipFill rotWithShape="1">
          <a:blip r:embed="rId4">
            <a:alphaModFix/>
          </a:blip>
          <a:srcRect b="0" l="33358" r="33083" t="0"/>
          <a:stretch/>
        </p:blipFill>
        <p:spPr>
          <a:xfrm>
            <a:off x="8403964" y="2646942"/>
            <a:ext cx="2973199" cy="1930264"/>
          </a:xfrm>
          <a:prstGeom prst="rect">
            <a:avLst/>
          </a:prstGeom>
          <a:noFill/>
          <a:ln>
            <a:noFill/>
          </a:ln>
        </p:spPr>
      </p:pic>
      <p:pic>
        <p:nvPicPr>
          <p:cNvPr id="80" name="Google Shape;80;p8"/>
          <p:cNvPicPr preferRelativeResize="0"/>
          <p:nvPr/>
        </p:nvPicPr>
        <p:blipFill rotWithShape="1">
          <a:blip r:embed="rId4">
            <a:alphaModFix/>
          </a:blip>
          <a:srcRect b="0" l="66813" r="0" t="0"/>
          <a:stretch/>
        </p:blipFill>
        <p:spPr>
          <a:xfrm>
            <a:off x="8403964" y="4634036"/>
            <a:ext cx="2973199" cy="1951970"/>
          </a:xfrm>
          <a:prstGeom prst="rect">
            <a:avLst/>
          </a:prstGeom>
          <a:noFill/>
          <a:ln>
            <a:noFill/>
          </a:ln>
        </p:spPr>
      </p:pic>
      <p:pic>
        <p:nvPicPr>
          <p:cNvPr id="81" name="Google Shape;81;p8"/>
          <p:cNvPicPr preferRelativeResize="0"/>
          <p:nvPr/>
        </p:nvPicPr>
        <p:blipFill>
          <a:blip r:embed="rId5">
            <a:alphaModFix/>
          </a:blip>
          <a:stretch>
            <a:fillRect/>
          </a:stretch>
        </p:blipFill>
        <p:spPr>
          <a:xfrm>
            <a:off x="715275" y="2071375"/>
            <a:ext cx="5673599" cy="3300496"/>
          </a:xfrm>
          <a:prstGeom prst="rect">
            <a:avLst/>
          </a:prstGeom>
          <a:noFill/>
          <a:ln cap="flat" cmpd="sng" w="9525">
            <a:solidFill>
              <a:srgbClr val="006747"/>
            </a:solidFill>
            <a:prstDash val="solid"/>
            <a:round/>
            <a:headEnd len="sm" w="sm" type="none"/>
            <a:tailEnd len="sm" w="sm" type="none"/>
          </a:ln>
        </p:spPr>
      </p:pic>
      <p:sp>
        <p:nvSpPr>
          <p:cNvPr id="82" name="Google Shape;82;p8"/>
          <p:cNvSpPr/>
          <p:nvPr/>
        </p:nvSpPr>
        <p:spPr>
          <a:xfrm>
            <a:off x="11627981" y="130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chemeClr val="lt1"/>
                </a:solidFill>
              </a:rPr>
              <a:t>5</a:t>
            </a:r>
            <a:endParaRPr b="1" sz="16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9"/>
          <p:cNvSpPr/>
          <p:nvPr/>
        </p:nvSpPr>
        <p:spPr>
          <a:xfrm>
            <a:off x="661475" y="694725"/>
            <a:ext cx="11055300" cy="531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3300"/>
              <a:buFont typeface="Arial"/>
              <a:buNone/>
            </a:pPr>
            <a:r>
              <a:rPr b="1" lang="en-US" sz="3300">
                <a:solidFill>
                  <a:srgbClr val="006747"/>
                </a:solidFill>
              </a:rPr>
              <a:t>Etape 2: Visualisation t-SNE des features avgpool</a:t>
            </a:r>
            <a:endParaRPr b="0" i="0" sz="3300" u="none" cap="none" strike="noStrike">
              <a:solidFill>
                <a:schemeClr val="dk1"/>
              </a:solidFill>
              <a:latin typeface="Calibri"/>
              <a:ea typeface="Calibri"/>
              <a:cs typeface="Calibri"/>
              <a:sym typeface="Calibri"/>
            </a:endParaRPr>
          </a:p>
        </p:txBody>
      </p:sp>
      <p:sp>
        <p:nvSpPr>
          <p:cNvPr id="89" name="Google Shape;89;p9"/>
          <p:cNvSpPr/>
          <p:nvPr/>
        </p:nvSpPr>
        <p:spPr>
          <a:xfrm>
            <a:off x="661475" y="1303025"/>
            <a:ext cx="11055300" cy="731100"/>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4B4A4A"/>
              </a:buClr>
              <a:buSzPts val="1300"/>
              <a:buFont typeface="Geist"/>
              <a:buNone/>
            </a:pPr>
            <a:r>
              <a:rPr lang="en-US" sz="1600">
                <a:solidFill>
                  <a:srgbClr val="4B4A4A"/>
                </a:solidFill>
                <a:latin typeface="Geist"/>
                <a:ea typeface="Geist"/>
                <a:cs typeface="Geist"/>
                <a:sym typeface="Geist"/>
              </a:rPr>
              <a:t>Le t-SNE projette en 2D les 2.048 dimensions des features </a:t>
            </a:r>
            <a:r>
              <a:rPr b="1" lang="en-US" sz="1600">
                <a:solidFill>
                  <a:srgbClr val="4B4A4A"/>
                </a:solidFill>
                <a:latin typeface="Geist"/>
                <a:ea typeface="Geist"/>
                <a:cs typeface="Geist"/>
                <a:sym typeface="Geist"/>
              </a:rPr>
              <a:t>avgpoo</a:t>
            </a:r>
            <a:r>
              <a:rPr b="1" lang="en-US" sz="1600">
                <a:solidFill>
                  <a:srgbClr val="4B4A4A"/>
                </a:solidFill>
                <a:latin typeface="Geist"/>
                <a:ea typeface="Geist"/>
                <a:cs typeface="Geist"/>
                <a:sym typeface="Geist"/>
              </a:rPr>
              <a:t>l</a:t>
            </a:r>
            <a:r>
              <a:rPr lang="en-US" sz="1600">
                <a:solidFill>
                  <a:srgbClr val="4B4A4A"/>
                </a:solidFill>
                <a:latin typeface="Geist"/>
                <a:ea typeface="Geist"/>
                <a:cs typeface="Geist"/>
                <a:sym typeface="Geist"/>
              </a:rPr>
              <a:t> extraites par ResNet50 (pré-entraîné ImageNet). Chaque point représente une image ; la couleur indique le statut (rouge = cancer, vert = normal, gris clair = sans label)</a:t>
            </a:r>
            <a:endParaRPr b="0" i="0" sz="1600" u="none" cap="none" strike="noStrike">
              <a:solidFill>
                <a:schemeClr val="dk1"/>
              </a:solidFill>
              <a:latin typeface="Calibri"/>
              <a:ea typeface="Calibri"/>
              <a:cs typeface="Calibri"/>
              <a:sym typeface="Calibri"/>
            </a:endParaRPr>
          </a:p>
        </p:txBody>
      </p:sp>
      <p:sp>
        <p:nvSpPr>
          <p:cNvPr id="90" name="Google Shape;90;p9"/>
          <p:cNvSpPr/>
          <p:nvPr/>
        </p:nvSpPr>
        <p:spPr>
          <a:xfrm>
            <a:off x="661474" y="4945100"/>
            <a:ext cx="5940900" cy="1394700"/>
          </a:xfrm>
          <a:prstGeom prst="roundRect">
            <a:avLst>
              <a:gd fmla="val 10978" name="adj"/>
            </a:avLst>
          </a:prstGeom>
          <a:solidFill>
            <a:srgbClr val="CCF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1" name="Google Shape;91;p9"/>
          <p:cNvPicPr preferRelativeResize="0"/>
          <p:nvPr/>
        </p:nvPicPr>
        <p:blipFill rotWithShape="1">
          <a:blip r:embed="rId3">
            <a:alphaModFix/>
          </a:blip>
          <a:srcRect b="0" l="0" r="0" t="0"/>
          <a:stretch/>
        </p:blipFill>
        <p:spPr>
          <a:xfrm>
            <a:off x="831521" y="5192941"/>
            <a:ext cx="212620" cy="170061"/>
          </a:xfrm>
          <a:prstGeom prst="rect">
            <a:avLst/>
          </a:prstGeom>
          <a:noFill/>
          <a:ln>
            <a:noFill/>
          </a:ln>
        </p:spPr>
      </p:pic>
      <p:sp>
        <p:nvSpPr>
          <p:cNvPr id="92" name="Google Shape;92;p9"/>
          <p:cNvSpPr/>
          <p:nvPr/>
        </p:nvSpPr>
        <p:spPr>
          <a:xfrm>
            <a:off x="1214200" y="5125275"/>
            <a:ext cx="5109000" cy="1034400"/>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000000"/>
              </a:buClr>
              <a:buSzPts val="1300"/>
              <a:buFont typeface="Geist"/>
              <a:buNone/>
            </a:pPr>
            <a:r>
              <a:rPr lang="en-US">
                <a:latin typeface="Geist"/>
                <a:ea typeface="Geist"/>
                <a:cs typeface="Geist"/>
                <a:sym typeface="Geist"/>
              </a:rPr>
              <a:t>Bien que la séparation ne soit pas nette, les features ResNet50 fournissent un signal discriminant suffisant pour servir de point de départ au transfert de learning et à l'apprentissage semi-supervisé</a:t>
            </a:r>
            <a:endParaRPr b="0" i="0" u="none" cap="none" strike="noStrike">
              <a:solidFill>
                <a:schemeClr val="dk1"/>
              </a:solidFill>
              <a:latin typeface="Calibri"/>
              <a:ea typeface="Calibri"/>
              <a:cs typeface="Calibri"/>
              <a:sym typeface="Calibri"/>
            </a:endParaRPr>
          </a:p>
        </p:txBody>
      </p:sp>
      <p:pic>
        <p:nvPicPr>
          <p:cNvPr id="93" name="Google Shape;93;p9"/>
          <p:cNvPicPr preferRelativeResize="0"/>
          <p:nvPr/>
        </p:nvPicPr>
        <p:blipFill>
          <a:blip r:embed="rId4">
            <a:alphaModFix/>
          </a:blip>
          <a:stretch>
            <a:fillRect/>
          </a:stretch>
        </p:blipFill>
        <p:spPr>
          <a:xfrm>
            <a:off x="6845400" y="2371229"/>
            <a:ext cx="4970375" cy="3857774"/>
          </a:xfrm>
          <a:prstGeom prst="rect">
            <a:avLst/>
          </a:prstGeom>
          <a:noFill/>
          <a:ln>
            <a:noFill/>
          </a:ln>
        </p:spPr>
      </p:pic>
      <p:sp>
        <p:nvSpPr>
          <p:cNvPr id="94" name="Google Shape;94;p9"/>
          <p:cNvSpPr/>
          <p:nvPr/>
        </p:nvSpPr>
        <p:spPr>
          <a:xfrm>
            <a:off x="614450" y="2147650"/>
            <a:ext cx="5940900" cy="2691600"/>
          </a:xfrm>
          <a:prstGeom prst="rect">
            <a:avLst/>
          </a:prstGeom>
          <a:noFill/>
          <a:ln>
            <a:noFill/>
          </a:ln>
        </p:spPr>
        <p:txBody>
          <a:bodyPr anchorCtr="0" anchor="t" bIns="0" lIns="0" spcFirstLastPara="1" rIns="0" wrap="square" tIns="0">
            <a:noAutofit/>
          </a:bodyPr>
          <a:lstStyle/>
          <a:p>
            <a:pPr indent="-323850" lvl="0" marL="457200" marR="0" rtl="0" algn="l">
              <a:lnSpc>
                <a:spcPct val="127000"/>
              </a:lnSpc>
              <a:spcBef>
                <a:spcPts val="0"/>
              </a:spcBef>
              <a:spcAft>
                <a:spcPts val="0"/>
              </a:spcAft>
              <a:buClr>
                <a:srgbClr val="4B4A4A"/>
              </a:buClr>
              <a:buSzPts val="1500"/>
              <a:buFont typeface="Geist"/>
              <a:buChar char="●"/>
            </a:pPr>
            <a:r>
              <a:rPr b="1" lang="en-US" sz="1500">
                <a:solidFill>
                  <a:srgbClr val="4B4A4A"/>
                </a:solidFill>
                <a:latin typeface="Geist"/>
                <a:ea typeface="Geist"/>
                <a:cs typeface="Geist"/>
                <a:sym typeface="Geist"/>
              </a:rPr>
              <a:t>Séparation partielle des classes étiquetées</a:t>
            </a:r>
            <a:r>
              <a:rPr lang="en-US" sz="1500">
                <a:solidFill>
                  <a:srgbClr val="4B4A4A"/>
                </a:solidFill>
                <a:latin typeface="Geist"/>
                <a:ea typeface="Geist"/>
                <a:cs typeface="Geist"/>
                <a:sym typeface="Geist"/>
              </a:rPr>
              <a:t> : certaines zones concentrent davantage de points cancer ou normal, signe que les features ImageNet capturent une partie de la variabilité visuelle pertinente pour ce domaine.</a:t>
            </a:r>
            <a:endParaRPr sz="1500">
              <a:solidFill>
                <a:srgbClr val="4B4A4A"/>
              </a:solidFill>
              <a:latin typeface="Geist"/>
              <a:ea typeface="Geist"/>
              <a:cs typeface="Geist"/>
              <a:sym typeface="Geist"/>
            </a:endParaRPr>
          </a:p>
          <a:p>
            <a:pPr indent="-323850" lvl="0" marL="457200" marR="0" rtl="0" algn="l">
              <a:lnSpc>
                <a:spcPct val="127000"/>
              </a:lnSpc>
              <a:spcBef>
                <a:spcPts val="0"/>
              </a:spcBef>
              <a:spcAft>
                <a:spcPts val="0"/>
              </a:spcAft>
              <a:buClr>
                <a:srgbClr val="4B4A4A"/>
              </a:buClr>
              <a:buSzPts val="1500"/>
              <a:buFont typeface="Geist"/>
              <a:buChar char="●"/>
            </a:pPr>
            <a:r>
              <a:rPr b="1" lang="en-US" sz="1500">
                <a:solidFill>
                  <a:srgbClr val="4B4A4A"/>
                </a:solidFill>
                <a:latin typeface="Geist"/>
                <a:ea typeface="Geist"/>
                <a:cs typeface="Geist"/>
                <a:sym typeface="Geist"/>
              </a:rPr>
              <a:t>Distribution des images sans label</a:t>
            </a:r>
            <a:r>
              <a:rPr lang="en-US" sz="1500">
                <a:solidFill>
                  <a:srgbClr val="4B4A4A"/>
                </a:solidFill>
                <a:latin typeface="Geist"/>
                <a:ea typeface="Geist"/>
                <a:cs typeface="Geist"/>
                <a:sym typeface="Geist"/>
              </a:rPr>
              <a:t> : les points gris ne sont pas isolés et se répartissent sur l'ensemble du nuage. Cela indique que les images sans label occupent le même espace de features que les images étiquetées — condition favorable au transfert de labels par clustering ou pseudo-labellisation</a:t>
            </a:r>
            <a:endParaRPr sz="1500">
              <a:solidFill>
                <a:srgbClr val="4B4A4A"/>
              </a:solidFill>
              <a:latin typeface="Geist"/>
              <a:ea typeface="Geist"/>
              <a:cs typeface="Geist"/>
              <a:sym typeface="Geist"/>
            </a:endParaRPr>
          </a:p>
        </p:txBody>
      </p:sp>
      <p:sp>
        <p:nvSpPr>
          <p:cNvPr id="95" name="Google Shape;95;p9"/>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chemeClr val="lt1"/>
                </a:solidFill>
              </a:rPr>
              <a:t>6</a:t>
            </a:r>
            <a:endParaRPr b="1" sz="16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0"/>
          <p:cNvSpPr/>
          <p:nvPr/>
        </p:nvSpPr>
        <p:spPr>
          <a:xfrm>
            <a:off x="661475" y="658912"/>
            <a:ext cx="9476642" cy="4724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2950"/>
              <a:buFont typeface="Arial"/>
              <a:buNone/>
            </a:pPr>
            <a:r>
              <a:rPr b="1" i="0" lang="en-US" sz="2950" u="none" cap="none" strike="noStrike">
                <a:solidFill>
                  <a:srgbClr val="006747"/>
                </a:solidFill>
                <a:latin typeface="Arial"/>
                <a:ea typeface="Arial"/>
                <a:cs typeface="Arial"/>
                <a:sym typeface="Arial"/>
              </a:rPr>
              <a:t>Étape 3 — Analyse non supervisée (Clustering)</a:t>
            </a:r>
            <a:endParaRPr b="0" i="0" sz="2950" u="none" cap="none" strike="noStrike">
              <a:solidFill>
                <a:schemeClr val="dk1"/>
              </a:solidFill>
              <a:latin typeface="Calibri"/>
              <a:ea typeface="Calibri"/>
              <a:cs typeface="Calibri"/>
              <a:sym typeface="Calibri"/>
            </a:endParaRPr>
          </a:p>
        </p:txBody>
      </p:sp>
      <p:sp>
        <p:nvSpPr>
          <p:cNvPr id="102" name="Google Shape;102;p10"/>
          <p:cNvSpPr/>
          <p:nvPr/>
        </p:nvSpPr>
        <p:spPr>
          <a:xfrm>
            <a:off x="661475" y="1390350"/>
            <a:ext cx="10799400" cy="87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1150"/>
              <a:buFont typeface="Geist"/>
              <a:buNone/>
            </a:pPr>
            <a:r>
              <a:rPr i="0" lang="en-US" sz="1550" u="none" cap="none" strike="noStrike">
                <a:solidFill>
                  <a:srgbClr val="4B4A4A"/>
                </a:solidFill>
                <a:latin typeface="Geist"/>
                <a:ea typeface="Geist"/>
                <a:cs typeface="Geist"/>
                <a:sym typeface="Geist"/>
              </a:rPr>
              <a:t>Clustering sur les 1 406 images sans label — PCA 50 composantes (46 % de variance expliquée).</a:t>
            </a:r>
            <a:endParaRPr i="0" sz="1550" u="none" cap="none" strike="noStrike">
              <a:solidFill>
                <a:srgbClr val="4B4A4A"/>
              </a:solidFill>
              <a:latin typeface="Geist"/>
              <a:ea typeface="Geist"/>
              <a:cs typeface="Geist"/>
              <a:sym typeface="Geist"/>
            </a:endParaRPr>
          </a:p>
          <a:p>
            <a:pPr indent="0" lvl="0" marL="0" marR="0" rtl="0" algn="l">
              <a:lnSpc>
                <a:spcPct val="120000"/>
              </a:lnSpc>
              <a:spcBef>
                <a:spcPts val="0"/>
              </a:spcBef>
              <a:spcAft>
                <a:spcPts val="0"/>
              </a:spcAft>
              <a:buClr>
                <a:srgbClr val="4B4A4A"/>
              </a:buClr>
              <a:buSzPts val="1150"/>
              <a:buFont typeface="Geist"/>
              <a:buNone/>
            </a:pPr>
            <a:r>
              <a:rPr lang="en-US" sz="1600">
                <a:solidFill>
                  <a:srgbClr val="4B4A4A"/>
                </a:solidFill>
                <a:latin typeface="Geist"/>
                <a:ea typeface="Geist"/>
                <a:cs typeface="Geist"/>
                <a:sym typeface="Geist"/>
              </a:rPr>
              <a:t>L'objectif est de générer des </a:t>
            </a:r>
            <a:r>
              <a:rPr lang="en-US" sz="1600">
                <a:solidFill>
                  <a:srgbClr val="4B4A4A"/>
                </a:solidFill>
              </a:rPr>
              <a:t>labels faibles</a:t>
            </a:r>
            <a:r>
              <a:rPr lang="en-US" sz="1600">
                <a:solidFill>
                  <a:srgbClr val="4B4A4A"/>
                </a:solidFill>
                <a:latin typeface="Geist"/>
                <a:ea typeface="Geist"/>
                <a:cs typeface="Geist"/>
                <a:sym typeface="Geist"/>
              </a:rPr>
              <a:t> (weak labels) qui serviront de point de départ au transfer learning, en l'absence d'annotations humaines.</a:t>
            </a:r>
            <a:r>
              <a:rPr lang="en-US" sz="1500">
                <a:solidFill>
                  <a:schemeClr val="dk1"/>
                </a:solidFill>
              </a:rPr>
              <a:t> </a:t>
            </a:r>
            <a:endParaRPr sz="1550">
              <a:solidFill>
                <a:srgbClr val="4B4A4A"/>
              </a:solidFill>
              <a:latin typeface="Geist"/>
              <a:ea typeface="Geist"/>
              <a:cs typeface="Geist"/>
              <a:sym typeface="Geist"/>
            </a:endParaRPr>
          </a:p>
        </p:txBody>
      </p:sp>
      <p:sp>
        <p:nvSpPr>
          <p:cNvPr id="103" name="Google Shape;103;p10"/>
          <p:cNvSpPr/>
          <p:nvPr/>
        </p:nvSpPr>
        <p:spPr>
          <a:xfrm>
            <a:off x="661466" y="4958118"/>
            <a:ext cx="2499900" cy="2361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1450"/>
              <a:buFont typeface="Arial"/>
              <a:buNone/>
            </a:pPr>
            <a:r>
              <a:rPr b="1" i="0" lang="en-US" sz="1750" u="none" cap="none" strike="noStrike">
                <a:solidFill>
                  <a:srgbClr val="006747"/>
                </a:solidFill>
                <a:latin typeface="Arial"/>
                <a:ea typeface="Arial"/>
                <a:cs typeface="Arial"/>
                <a:sym typeface="Arial"/>
              </a:rPr>
              <a:t>K-Means retenu</a:t>
            </a:r>
            <a:endParaRPr b="0" i="0" sz="1750" u="none" cap="none" strike="noStrike">
              <a:solidFill>
                <a:schemeClr val="dk1"/>
              </a:solidFill>
              <a:latin typeface="Calibri"/>
              <a:ea typeface="Calibri"/>
              <a:cs typeface="Calibri"/>
              <a:sym typeface="Calibri"/>
            </a:endParaRPr>
          </a:p>
        </p:txBody>
      </p:sp>
      <p:sp>
        <p:nvSpPr>
          <p:cNvPr id="104" name="Google Shape;104;p10"/>
          <p:cNvSpPr/>
          <p:nvPr/>
        </p:nvSpPr>
        <p:spPr>
          <a:xfrm>
            <a:off x="661475" y="5315325"/>
            <a:ext cx="4766700" cy="1164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1150"/>
              <a:buFont typeface="Geist"/>
              <a:buNone/>
            </a:pPr>
            <a:r>
              <a:rPr b="0" i="0" lang="en-US" sz="1550" u="none" cap="none" strike="noStrike">
                <a:solidFill>
                  <a:srgbClr val="4B4A4A"/>
                </a:solidFill>
                <a:latin typeface="Geist"/>
                <a:ea typeface="Geist"/>
                <a:cs typeface="Geist"/>
                <a:sym typeface="Geist"/>
              </a:rPr>
              <a:t>Cluster 0 : 501 images → Normal</a:t>
            </a:r>
            <a:endParaRPr b="0" i="0" sz="15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4B4A4A"/>
              </a:buClr>
              <a:buSzPts val="1150"/>
              <a:buFont typeface="Geist"/>
              <a:buNone/>
            </a:pPr>
            <a:r>
              <a:rPr b="0" i="0" lang="en-US" sz="1550" u="none" cap="none" strike="noStrike">
                <a:solidFill>
                  <a:srgbClr val="4B4A4A"/>
                </a:solidFill>
                <a:latin typeface="Geist"/>
                <a:ea typeface="Geist"/>
                <a:cs typeface="Geist"/>
                <a:sym typeface="Geist"/>
              </a:rPr>
              <a:t>Cluster 1 : 905 images → Cancer</a:t>
            </a:r>
            <a:endParaRPr b="0" i="0" sz="15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4B4A4A"/>
              </a:buClr>
              <a:buSzPts val="1150"/>
              <a:buFont typeface="Geist"/>
              <a:buNone/>
            </a:pPr>
            <a:r>
              <a:rPr b="0" i="0" lang="en-US" sz="1550" u="none" cap="none" strike="noStrike">
                <a:solidFill>
                  <a:srgbClr val="4B4A4A"/>
                </a:solidFill>
                <a:latin typeface="Geist"/>
                <a:ea typeface="Geist"/>
                <a:cs typeface="Geist"/>
                <a:sym typeface="Geist"/>
              </a:rPr>
              <a:t>ARI = </a:t>
            </a:r>
            <a:r>
              <a:rPr b="1" i="0" lang="en-US" sz="1550" u="none" cap="none" strike="noStrike">
                <a:solidFill>
                  <a:srgbClr val="4B4A4A"/>
                </a:solidFill>
                <a:latin typeface="Geist"/>
                <a:ea typeface="Geist"/>
                <a:cs typeface="Geist"/>
                <a:sym typeface="Geist"/>
              </a:rPr>
              <a:t>0,1101</a:t>
            </a:r>
            <a:r>
              <a:rPr b="0" i="0" lang="en-US" sz="1550" u="none" cap="none" strike="noStrike">
                <a:solidFill>
                  <a:srgbClr val="4B4A4A"/>
                </a:solidFill>
                <a:latin typeface="Geist"/>
                <a:ea typeface="Geist"/>
                <a:cs typeface="Geist"/>
                <a:sym typeface="Geist"/>
              </a:rPr>
              <a:t> — signal positif mais faible, clustering géométrique sans connaissance des classes.</a:t>
            </a:r>
            <a:endParaRPr b="0" i="0" sz="1550" u="none" cap="none" strike="noStrike">
              <a:solidFill>
                <a:schemeClr val="dk1"/>
              </a:solidFill>
              <a:latin typeface="Calibri"/>
              <a:ea typeface="Calibri"/>
              <a:cs typeface="Calibri"/>
              <a:sym typeface="Calibri"/>
            </a:endParaRPr>
          </a:p>
        </p:txBody>
      </p:sp>
      <p:sp>
        <p:nvSpPr>
          <p:cNvPr id="105" name="Google Shape;105;p10"/>
          <p:cNvSpPr/>
          <p:nvPr/>
        </p:nvSpPr>
        <p:spPr>
          <a:xfrm>
            <a:off x="5868186" y="5014423"/>
            <a:ext cx="2499900" cy="2361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1450"/>
              <a:buFont typeface="Arial"/>
              <a:buNone/>
            </a:pPr>
            <a:r>
              <a:rPr b="1" i="0" lang="en-US" sz="1750" u="none" cap="none" strike="noStrike">
                <a:solidFill>
                  <a:srgbClr val="006747"/>
                </a:solidFill>
                <a:latin typeface="Arial"/>
                <a:ea typeface="Arial"/>
                <a:cs typeface="Arial"/>
                <a:sym typeface="Arial"/>
              </a:rPr>
              <a:t>DBSCAN écarté</a:t>
            </a:r>
            <a:endParaRPr b="0" i="0" sz="1750" u="none" cap="none" strike="noStrike">
              <a:solidFill>
                <a:schemeClr val="dk1"/>
              </a:solidFill>
              <a:latin typeface="Calibri"/>
              <a:ea typeface="Calibri"/>
              <a:cs typeface="Calibri"/>
              <a:sym typeface="Calibri"/>
            </a:endParaRPr>
          </a:p>
        </p:txBody>
      </p:sp>
      <p:sp>
        <p:nvSpPr>
          <p:cNvPr id="106" name="Google Shape;106;p10"/>
          <p:cNvSpPr/>
          <p:nvPr/>
        </p:nvSpPr>
        <p:spPr>
          <a:xfrm>
            <a:off x="5868175" y="5371594"/>
            <a:ext cx="5250000" cy="1114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1150"/>
              <a:buFont typeface="Geist"/>
              <a:buNone/>
            </a:pPr>
            <a:r>
              <a:rPr b="0" i="0" lang="en-US" sz="1550" u="none" cap="none" strike="noStrike">
                <a:solidFill>
                  <a:srgbClr val="4B4A4A"/>
                </a:solidFill>
                <a:latin typeface="Geist"/>
                <a:ea typeface="Geist"/>
                <a:cs typeface="Geist"/>
                <a:sym typeface="Geist"/>
              </a:rPr>
              <a:t>1 seul cluster trouvé (1 398 images), 8 outliers. Données trop denses en espace PCA 50D — </a:t>
            </a:r>
            <a:r>
              <a:rPr b="1" i="0" lang="en-US" sz="1550" u="none" cap="none" strike="noStrike">
                <a:solidFill>
                  <a:srgbClr val="4B4A4A"/>
                </a:solidFill>
                <a:latin typeface="Geist"/>
                <a:ea typeface="Geist"/>
                <a:cs typeface="Geist"/>
                <a:sym typeface="Geist"/>
              </a:rPr>
              <a:t>non retenu</a:t>
            </a:r>
            <a:r>
              <a:rPr b="0" i="0" lang="en-US" sz="1550" u="none" cap="none" strike="noStrike">
                <a:solidFill>
                  <a:srgbClr val="4B4A4A"/>
                </a:solidFill>
                <a:latin typeface="Geist"/>
                <a:ea typeface="Geist"/>
                <a:cs typeface="Geist"/>
                <a:sym typeface="Geist"/>
              </a:rPr>
              <a:t> pour la génération de weak labels.</a:t>
            </a:r>
            <a:endParaRPr b="0" i="0" sz="1550" u="none" cap="none" strike="noStrike">
              <a:solidFill>
                <a:schemeClr val="dk1"/>
              </a:solidFill>
              <a:latin typeface="Calibri"/>
              <a:ea typeface="Calibri"/>
              <a:cs typeface="Calibri"/>
              <a:sym typeface="Calibri"/>
            </a:endParaRPr>
          </a:p>
        </p:txBody>
      </p:sp>
      <p:pic>
        <p:nvPicPr>
          <p:cNvPr id="107" name="Google Shape;107;p10"/>
          <p:cNvPicPr preferRelativeResize="0"/>
          <p:nvPr/>
        </p:nvPicPr>
        <p:blipFill rotWithShape="1">
          <a:blip r:embed="rId3">
            <a:alphaModFix/>
          </a:blip>
          <a:srcRect b="0" l="0" r="49777" t="4617"/>
          <a:stretch/>
        </p:blipFill>
        <p:spPr>
          <a:xfrm>
            <a:off x="661475" y="2389875"/>
            <a:ext cx="3371949" cy="2384292"/>
          </a:xfrm>
          <a:prstGeom prst="rect">
            <a:avLst/>
          </a:prstGeom>
          <a:noFill/>
          <a:ln>
            <a:noFill/>
          </a:ln>
        </p:spPr>
      </p:pic>
      <p:pic>
        <p:nvPicPr>
          <p:cNvPr id="108" name="Google Shape;108;p10"/>
          <p:cNvPicPr preferRelativeResize="0"/>
          <p:nvPr/>
        </p:nvPicPr>
        <p:blipFill rotWithShape="1">
          <a:blip r:embed="rId3">
            <a:alphaModFix/>
          </a:blip>
          <a:srcRect b="0" l="50008" r="0" t="5446"/>
          <a:stretch/>
        </p:blipFill>
        <p:spPr>
          <a:xfrm>
            <a:off x="5823494" y="2385123"/>
            <a:ext cx="3371949" cy="2374550"/>
          </a:xfrm>
          <a:prstGeom prst="rect">
            <a:avLst/>
          </a:prstGeom>
          <a:noFill/>
          <a:ln>
            <a:noFill/>
          </a:ln>
        </p:spPr>
      </p:pic>
      <p:sp>
        <p:nvSpPr>
          <p:cNvPr id="109" name="Google Shape;109;p10"/>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chemeClr val="lt1"/>
                </a:solidFill>
              </a:rPr>
              <a:t>7</a:t>
            </a:r>
            <a:endParaRPr b="1" sz="16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1"/>
          <p:cNvSpPr/>
          <p:nvPr/>
        </p:nvSpPr>
        <p:spPr>
          <a:xfrm>
            <a:off x="661475" y="418450"/>
            <a:ext cx="10416000" cy="4491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2950"/>
              <a:buFont typeface="Arial"/>
              <a:buNone/>
            </a:pPr>
            <a:r>
              <a:rPr b="1" i="0" lang="en-US" sz="2950" u="none" cap="none" strike="noStrike">
                <a:solidFill>
                  <a:srgbClr val="006747"/>
                </a:solidFill>
                <a:latin typeface="Arial"/>
                <a:ea typeface="Arial"/>
                <a:cs typeface="Arial"/>
                <a:sym typeface="Arial"/>
              </a:rPr>
              <a:t>Étape 3 — </a:t>
            </a:r>
            <a:r>
              <a:rPr b="1" lang="en-US" sz="2950">
                <a:solidFill>
                  <a:srgbClr val="006747"/>
                </a:solidFill>
              </a:rPr>
              <a:t>Score ARI validation des données </a:t>
            </a:r>
            <a:r>
              <a:rPr b="1" lang="en-US" sz="2950">
                <a:solidFill>
                  <a:srgbClr val="006747"/>
                </a:solidFill>
              </a:rPr>
              <a:t>labellisées</a:t>
            </a:r>
            <a:endParaRPr b="0" i="0" sz="2950" u="none" cap="none" strike="noStrike">
              <a:solidFill>
                <a:schemeClr val="dk1"/>
              </a:solidFill>
              <a:latin typeface="Calibri"/>
              <a:ea typeface="Calibri"/>
              <a:cs typeface="Calibri"/>
              <a:sym typeface="Calibri"/>
            </a:endParaRPr>
          </a:p>
        </p:txBody>
      </p:sp>
      <p:sp>
        <p:nvSpPr>
          <p:cNvPr id="116" name="Google Shape;116;p11"/>
          <p:cNvSpPr/>
          <p:nvPr/>
        </p:nvSpPr>
        <p:spPr>
          <a:xfrm>
            <a:off x="661475" y="1039475"/>
            <a:ext cx="10055700" cy="510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1150"/>
              <a:buFont typeface="Geist"/>
              <a:buNone/>
            </a:pPr>
            <a:r>
              <a:rPr lang="en-US" sz="1450">
                <a:solidFill>
                  <a:srgbClr val="4B4A4A"/>
                </a:solidFill>
                <a:latin typeface="Geist"/>
                <a:ea typeface="Geist"/>
                <a:cs typeface="Geist"/>
                <a:sym typeface="Geist"/>
              </a:rPr>
              <a:t>Les 100 images </a:t>
            </a:r>
            <a:r>
              <a:rPr lang="en-US" sz="1450">
                <a:solidFill>
                  <a:srgbClr val="4B4A4A"/>
                </a:solidFill>
                <a:latin typeface="Geist"/>
                <a:ea typeface="Geist"/>
                <a:cs typeface="Geist"/>
                <a:sym typeface="Geist"/>
              </a:rPr>
              <a:t>avec labels</a:t>
            </a:r>
            <a:r>
              <a:rPr lang="en-US" sz="1450">
                <a:solidFill>
                  <a:srgbClr val="4B4A4A"/>
                </a:solidFill>
                <a:latin typeface="Geist"/>
                <a:ea typeface="Geist"/>
                <a:cs typeface="Geist"/>
                <a:sym typeface="Geist"/>
              </a:rPr>
              <a:t> sont projetées dans l'espace PCA entraîné sur les données </a:t>
            </a:r>
            <a:r>
              <a:rPr lang="en-US" sz="1450">
                <a:solidFill>
                  <a:srgbClr val="4B4A4A"/>
                </a:solidFill>
                <a:latin typeface="Geist"/>
                <a:ea typeface="Geist"/>
                <a:cs typeface="Geist"/>
                <a:sym typeface="Geist"/>
              </a:rPr>
              <a:t>sans label</a:t>
            </a:r>
            <a:r>
              <a:rPr lang="en-US" sz="1450">
                <a:solidFill>
                  <a:srgbClr val="4B4A4A"/>
                </a:solidFill>
                <a:latin typeface="Geist"/>
                <a:ea typeface="Geist"/>
                <a:cs typeface="Geist"/>
                <a:sym typeface="Geist"/>
              </a:rPr>
              <a:t>, puis classifiées par K-Means. Le score ARI compare ces prédictions aux vrais labels (cancer/normal)</a:t>
            </a:r>
            <a:endParaRPr b="0" i="0" sz="1450" u="none" cap="none" strike="noStrike">
              <a:solidFill>
                <a:schemeClr val="dk1"/>
              </a:solidFill>
              <a:latin typeface="Calibri"/>
              <a:ea typeface="Calibri"/>
              <a:cs typeface="Calibri"/>
              <a:sym typeface="Calibri"/>
            </a:endParaRPr>
          </a:p>
        </p:txBody>
      </p:sp>
      <p:sp>
        <p:nvSpPr>
          <p:cNvPr id="117" name="Google Shape;117;p11"/>
          <p:cNvSpPr/>
          <p:nvPr/>
        </p:nvSpPr>
        <p:spPr>
          <a:xfrm>
            <a:off x="8360260" y="4424454"/>
            <a:ext cx="2817600" cy="499200"/>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4B4A4A"/>
              </a:buClr>
              <a:buSzPts val="3900"/>
              <a:buFont typeface="Arial"/>
              <a:buNone/>
            </a:pPr>
            <a:r>
              <a:rPr b="1" lang="en-US" sz="3900">
                <a:solidFill>
                  <a:srgbClr val="4B4A4A"/>
                </a:solidFill>
              </a:rPr>
              <a:t>ARI = </a:t>
            </a:r>
            <a:r>
              <a:rPr b="1" i="0" lang="en-US" sz="3900" u="none" cap="none" strike="noStrike">
                <a:solidFill>
                  <a:srgbClr val="4B4A4A"/>
                </a:solidFill>
                <a:latin typeface="Arial"/>
                <a:ea typeface="Arial"/>
                <a:cs typeface="Arial"/>
                <a:sym typeface="Arial"/>
              </a:rPr>
              <a:t>0.11</a:t>
            </a:r>
            <a:endParaRPr b="0" i="0" sz="3900" u="none" cap="none" strike="noStrike">
              <a:solidFill>
                <a:schemeClr val="dk1"/>
              </a:solidFill>
              <a:latin typeface="Calibri"/>
              <a:ea typeface="Calibri"/>
              <a:cs typeface="Calibri"/>
              <a:sym typeface="Calibri"/>
            </a:endParaRPr>
          </a:p>
        </p:txBody>
      </p:sp>
      <p:sp>
        <p:nvSpPr>
          <p:cNvPr id="118" name="Google Shape;118;p11"/>
          <p:cNvSpPr/>
          <p:nvPr/>
        </p:nvSpPr>
        <p:spPr>
          <a:xfrm>
            <a:off x="8008050" y="5031438"/>
            <a:ext cx="3522300" cy="6081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4B4A4A"/>
              </a:buClr>
              <a:buSzPts val="1150"/>
              <a:buFont typeface="Geist"/>
              <a:buNone/>
            </a:pPr>
            <a:r>
              <a:rPr lang="en-US" sz="1350">
                <a:solidFill>
                  <a:srgbClr val="4B4A4A"/>
                </a:solidFill>
                <a:latin typeface="Geist"/>
                <a:ea typeface="Geist"/>
                <a:cs typeface="Geist"/>
                <a:sym typeface="Geist"/>
              </a:rPr>
              <a:t>Un accord légèrement supérieur au hasard (ARI = 0 = aléatoire, ARI = 1 = parfait)</a:t>
            </a:r>
            <a:endParaRPr b="0" i="0" sz="1350" u="none" cap="none" strike="noStrike">
              <a:solidFill>
                <a:schemeClr val="dk1"/>
              </a:solidFill>
              <a:latin typeface="Calibri"/>
              <a:ea typeface="Calibri"/>
              <a:cs typeface="Calibri"/>
              <a:sym typeface="Calibri"/>
            </a:endParaRPr>
          </a:p>
        </p:txBody>
      </p:sp>
      <p:sp>
        <p:nvSpPr>
          <p:cNvPr id="119" name="Google Shape;119;p11"/>
          <p:cNvSpPr/>
          <p:nvPr/>
        </p:nvSpPr>
        <p:spPr>
          <a:xfrm>
            <a:off x="661475" y="5880150"/>
            <a:ext cx="6837900" cy="756900"/>
          </a:xfrm>
          <a:prstGeom prst="roundRect">
            <a:avLst>
              <a:gd fmla="val 26634" name="adj"/>
            </a:avLst>
          </a:prstGeom>
          <a:solidFill>
            <a:srgbClr val="CCF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0" name="Google Shape;120;p11"/>
          <p:cNvPicPr preferRelativeResize="0"/>
          <p:nvPr/>
        </p:nvPicPr>
        <p:blipFill rotWithShape="1">
          <a:blip r:embed="rId3">
            <a:alphaModFix/>
          </a:blip>
          <a:srcRect b="0" l="0" r="0" t="0"/>
          <a:stretch/>
        </p:blipFill>
        <p:spPr>
          <a:xfrm>
            <a:off x="812680" y="6082863"/>
            <a:ext cx="189007" cy="151209"/>
          </a:xfrm>
          <a:prstGeom prst="rect">
            <a:avLst/>
          </a:prstGeom>
          <a:noFill/>
          <a:ln>
            <a:noFill/>
          </a:ln>
        </p:spPr>
      </p:pic>
      <p:sp>
        <p:nvSpPr>
          <p:cNvPr id="121" name="Google Shape;121;p11"/>
          <p:cNvSpPr/>
          <p:nvPr/>
        </p:nvSpPr>
        <p:spPr>
          <a:xfrm>
            <a:off x="970650" y="6026800"/>
            <a:ext cx="6363900" cy="499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150"/>
              <a:buFont typeface="Geist"/>
              <a:buNone/>
            </a:pPr>
            <a:r>
              <a:rPr lang="en-US" sz="1350">
                <a:latin typeface="Geist"/>
                <a:ea typeface="Geist"/>
                <a:cs typeface="Geist"/>
                <a:sym typeface="Geist"/>
              </a:rPr>
              <a:t>Malgré un ARI modéré, le clustering génère 1 406 labels faibles (905 cancer / 501 normal) qui constituent un signal d'entraînement exploitable</a:t>
            </a:r>
            <a:endParaRPr b="0" i="0" sz="1350" u="none" cap="none" strike="noStrike">
              <a:solidFill>
                <a:schemeClr val="dk1"/>
              </a:solidFill>
              <a:latin typeface="Calibri"/>
              <a:ea typeface="Calibri"/>
              <a:cs typeface="Calibri"/>
              <a:sym typeface="Calibri"/>
            </a:endParaRPr>
          </a:p>
        </p:txBody>
      </p:sp>
      <p:pic>
        <p:nvPicPr>
          <p:cNvPr id="122" name="Google Shape;122;p11"/>
          <p:cNvPicPr preferRelativeResize="0"/>
          <p:nvPr/>
        </p:nvPicPr>
        <p:blipFill>
          <a:blip r:embed="rId4">
            <a:alphaModFix/>
          </a:blip>
          <a:stretch>
            <a:fillRect/>
          </a:stretch>
        </p:blipFill>
        <p:spPr>
          <a:xfrm>
            <a:off x="722025" y="1919142"/>
            <a:ext cx="6082488" cy="3112301"/>
          </a:xfrm>
          <a:prstGeom prst="rect">
            <a:avLst/>
          </a:prstGeom>
          <a:noFill/>
          <a:ln>
            <a:noFill/>
          </a:ln>
        </p:spPr>
      </p:pic>
      <p:pic>
        <p:nvPicPr>
          <p:cNvPr id="123" name="Google Shape;123;p11"/>
          <p:cNvPicPr preferRelativeResize="0"/>
          <p:nvPr/>
        </p:nvPicPr>
        <p:blipFill>
          <a:blip r:embed="rId5">
            <a:alphaModFix/>
          </a:blip>
          <a:stretch>
            <a:fillRect/>
          </a:stretch>
        </p:blipFill>
        <p:spPr>
          <a:xfrm>
            <a:off x="7955626" y="1854133"/>
            <a:ext cx="2895300" cy="2417917"/>
          </a:xfrm>
          <a:prstGeom prst="rect">
            <a:avLst/>
          </a:prstGeom>
          <a:noFill/>
          <a:ln>
            <a:noFill/>
          </a:ln>
        </p:spPr>
      </p:pic>
      <p:sp>
        <p:nvSpPr>
          <p:cNvPr id="124" name="Google Shape;124;p11"/>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chemeClr val="lt1"/>
                </a:solidFill>
              </a:rPr>
              <a:t>8</a:t>
            </a:r>
            <a:endParaRPr b="1" sz="16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2"/>
          <p:cNvSpPr/>
          <p:nvPr/>
        </p:nvSpPr>
        <p:spPr>
          <a:xfrm>
            <a:off x="661475" y="675580"/>
            <a:ext cx="9736787" cy="5906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3700"/>
              <a:buFont typeface="Arial"/>
              <a:buNone/>
            </a:pPr>
            <a:r>
              <a:rPr b="1" i="0" lang="en-US" sz="3700" u="none" cap="none" strike="noStrike">
                <a:solidFill>
                  <a:srgbClr val="006747"/>
                </a:solidFill>
                <a:latin typeface="Arial"/>
                <a:ea typeface="Arial"/>
                <a:cs typeface="Arial"/>
                <a:sym typeface="Arial"/>
              </a:rPr>
              <a:t>Étape 4 — </a:t>
            </a:r>
            <a:r>
              <a:rPr b="1" i="0" lang="en-US" sz="3700" u="none" cap="none" strike="noStrike">
                <a:solidFill>
                  <a:srgbClr val="006747"/>
                </a:solidFill>
                <a:latin typeface="Arial"/>
                <a:ea typeface="Arial"/>
                <a:cs typeface="Arial"/>
                <a:sym typeface="Arial"/>
              </a:rPr>
              <a:t>Transfer Learning ResNet50</a:t>
            </a:r>
            <a:endParaRPr b="0" i="0" sz="3700" u="none" cap="none" strike="noStrike">
              <a:solidFill>
                <a:schemeClr val="dk1"/>
              </a:solidFill>
              <a:latin typeface="Calibri"/>
              <a:ea typeface="Calibri"/>
              <a:cs typeface="Calibri"/>
              <a:sym typeface="Calibri"/>
            </a:endParaRPr>
          </a:p>
        </p:txBody>
      </p:sp>
      <p:sp>
        <p:nvSpPr>
          <p:cNvPr id="131" name="Google Shape;131;p12"/>
          <p:cNvSpPr/>
          <p:nvPr/>
        </p:nvSpPr>
        <p:spPr>
          <a:xfrm>
            <a:off x="661475" y="1644253"/>
            <a:ext cx="10868745" cy="60483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0" i="0" lang="en-US" sz="1450" u="none" cap="none" strike="noStrike">
                <a:solidFill>
                  <a:srgbClr val="4B4A4A"/>
                </a:solidFill>
                <a:latin typeface="Geist"/>
                <a:ea typeface="Geist"/>
                <a:cs typeface="Geist"/>
                <a:sym typeface="Geist"/>
              </a:rPr>
              <a:t>Fine-tuning des couches layer4 + FC — </a:t>
            </a:r>
            <a:r>
              <a:rPr b="1" i="0" lang="en-US" sz="1450" u="none" cap="none" strike="noStrike">
                <a:solidFill>
                  <a:srgbClr val="4B4A4A"/>
                </a:solidFill>
                <a:latin typeface="Geist"/>
                <a:ea typeface="Geist"/>
                <a:cs typeface="Geist"/>
                <a:sym typeface="Geist"/>
              </a:rPr>
              <a:t>SGD</a:t>
            </a:r>
            <a:r>
              <a:rPr b="0" i="0" lang="en-US" sz="1450" u="none" cap="none" strike="noStrike">
                <a:solidFill>
                  <a:srgbClr val="4B4A4A"/>
                </a:solidFill>
                <a:latin typeface="Geist"/>
                <a:ea typeface="Geist"/>
                <a:cs typeface="Geist"/>
                <a:sym typeface="Geist"/>
              </a:rPr>
              <a:t> </a:t>
            </a:r>
            <a:r>
              <a:rPr b="1" i="0" lang="en-US" sz="1450" u="none" cap="none" strike="noStrike">
                <a:solidFill>
                  <a:srgbClr val="4B4A4A"/>
                </a:solidFill>
                <a:latin typeface="Geist"/>
                <a:ea typeface="Geist"/>
                <a:cs typeface="Geist"/>
                <a:sym typeface="Geist"/>
              </a:rPr>
              <a:t>lr=0.1</a:t>
            </a:r>
            <a:r>
              <a:rPr b="0" i="0" lang="en-US" sz="1450" u="none" cap="none" strike="noStrike">
                <a:solidFill>
                  <a:srgbClr val="4B4A4A"/>
                </a:solidFill>
                <a:latin typeface="Geist"/>
                <a:ea typeface="Geist"/>
                <a:cs typeface="Geist"/>
                <a:sym typeface="Geist"/>
              </a:rPr>
              <a:t>. Évaluation sur 20 images test (10 cancer + 10 normal), jamais vues à l'entraînement.</a:t>
            </a:r>
            <a:endParaRPr b="0" i="0" sz="1450" u="none" cap="none" strike="noStrike">
              <a:solidFill>
                <a:schemeClr val="dk1"/>
              </a:solidFill>
              <a:latin typeface="Calibri"/>
              <a:ea typeface="Calibri"/>
              <a:cs typeface="Calibri"/>
              <a:sym typeface="Calibri"/>
            </a:endParaRPr>
          </a:p>
        </p:txBody>
      </p:sp>
      <p:sp>
        <p:nvSpPr>
          <p:cNvPr id="132" name="Google Shape;132;p12"/>
          <p:cNvSpPr/>
          <p:nvPr/>
        </p:nvSpPr>
        <p:spPr>
          <a:xfrm>
            <a:off x="661475" y="2461716"/>
            <a:ext cx="10868745" cy="2256036"/>
          </a:xfrm>
          <a:prstGeom prst="roundRect">
            <a:avLst>
              <a:gd fmla="val 7541" name="adj"/>
            </a:avLst>
          </a:prstGeom>
          <a:solidFill>
            <a:srgbClr val="CCFFEF"/>
          </a:solidFill>
          <a:ln cap="flat" cmpd="sng" w="76200">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2"/>
          <p:cNvSpPr/>
          <p:nvPr/>
        </p:nvSpPr>
        <p:spPr>
          <a:xfrm>
            <a:off x="857129" y="2587823"/>
            <a:ext cx="2399545" cy="30241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i="0" lang="en-US" sz="1450" u="none" cap="none" strike="noStrike">
                <a:solidFill>
                  <a:srgbClr val="4B4A4A"/>
                </a:solidFill>
                <a:latin typeface="Geist"/>
                <a:ea typeface="Geist"/>
                <a:cs typeface="Geist"/>
                <a:sym typeface="Geist"/>
              </a:rPr>
              <a:t>Modèle</a:t>
            </a:r>
            <a:endParaRPr b="0" i="0" sz="1450" u="none" cap="none" strike="noStrike">
              <a:solidFill>
                <a:schemeClr val="dk1"/>
              </a:solidFill>
              <a:latin typeface="Calibri"/>
              <a:ea typeface="Calibri"/>
              <a:cs typeface="Calibri"/>
              <a:sym typeface="Calibri"/>
            </a:endParaRPr>
          </a:p>
        </p:txBody>
      </p:sp>
      <p:sp>
        <p:nvSpPr>
          <p:cNvPr id="134" name="Google Shape;134;p12"/>
          <p:cNvSpPr/>
          <p:nvPr/>
        </p:nvSpPr>
        <p:spPr>
          <a:xfrm>
            <a:off x="3031454" y="2587823"/>
            <a:ext cx="2396371" cy="30241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i="0" lang="en-US" sz="1450" u="none" cap="none" strike="noStrike">
                <a:solidFill>
                  <a:srgbClr val="4B4A4A"/>
                </a:solidFill>
                <a:latin typeface="Geist"/>
                <a:ea typeface="Geist"/>
                <a:cs typeface="Geist"/>
                <a:sym typeface="Geist"/>
              </a:rPr>
              <a:t>Entraînement</a:t>
            </a:r>
            <a:endParaRPr b="0" i="0" sz="1450" u="none" cap="none" strike="noStrike">
              <a:solidFill>
                <a:schemeClr val="dk1"/>
              </a:solidFill>
              <a:latin typeface="Calibri"/>
              <a:ea typeface="Calibri"/>
              <a:cs typeface="Calibri"/>
              <a:sym typeface="Calibri"/>
            </a:endParaRPr>
          </a:p>
        </p:txBody>
      </p:sp>
      <p:sp>
        <p:nvSpPr>
          <p:cNvPr id="135" name="Google Shape;135;p12"/>
          <p:cNvSpPr/>
          <p:nvPr/>
        </p:nvSpPr>
        <p:spPr>
          <a:xfrm>
            <a:off x="5202602" y="2587824"/>
            <a:ext cx="9231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i="0" lang="en-US" sz="1450" u="none" cap="none" strike="noStrike">
                <a:solidFill>
                  <a:srgbClr val="4B4A4A"/>
                </a:solidFill>
                <a:latin typeface="Geist"/>
                <a:ea typeface="Geist"/>
                <a:cs typeface="Geist"/>
                <a:sym typeface="Geist"/>
              </a:rPr>
              <a:t>Accuracy</a:t>
            </a:r>
            <a:endParaRPr b="0" i="0" sz="1450" u="none" cap="none" strike="noStrike">
              <a:solidFill>
                <a:schemeClr val="dk1"/>
              </a:solidFill>
              <a:latin typeface="Calibri"/>
              <a:ea typeface="Calibri"/>
              <a:cs typeface="Calibri"/>
              <a:sym typeface="Calibri"/>
            </a:endParaRPr>
          </a:p>
        </p:txBody>
      </p:sp>
      <p:sp>
        <p:nvSpPr>
          <p:cNvPr id="136" name="Google Shape;136;p12"/>
          <p:cNvSpPr/>
          <p:nvPr/>
        </p:nvSpPr>
        <p:spPr>
          <a:xfrm>
            <a:off x="6385735" y="2587850"/>
            <a:ext cx="8895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i="0" lang="en-US" sz="1450" u="none" cap="none" strike="noStrike">
                <a:solidFill>
                  <a:srgbClr val="4B4A4A"/>
                </a:solidFill>
                <a:latin typeface="Geist"/>
                <a:ea typeface="Geist"/>
                <a:cs typeface="Geist"/>
                <a:sym typeface="Geist"/>
              </a:rPr>
              <a:t>F1-macro</a:t>
            </a:r>
            <a:endParaRPr b="0" i="0" sz="1450" u="none" cap="none" strike="noStrike">
              <a:solidFill>
                <a:schemeClr val="dk1"/>
              </a:solidFill>
              <a:latin typeface="Calibri"/>
              <a:ea typeface="Calibri"/>
              <a:cs typeface="Calibri"/>
              <a:sym typeface="Calibri"/>
            </a:endParaRPr>
          </a:p>
        </p:txBody>
      </p:sp>
      <p:sp>
        <p:nvSpPr>
          <p:cNvPr id="137" name="Google Shape;137;p12"/>
          <p:cNvSpPr/>
          <p:nvPr/>
        </p:nvSpPr>
        <p:spPr>
          <a:xfrm>
            <a:off x="10381811" y="2587850"/>
            <a:ext cx="5679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i="0" lang="en-US" sz="1450" u="none" cap="none" strike="noStrike">
                <a:solidFill>
                  <a:srgbClr val="4B4A4A"/>
                </a:solidFill>
                <a:latin typeface="Geist"/>
                <a:ea typeface="Geist"/>
                <a:cs typeface="Geist"/>
                <a:sym typeface="Geist"/>
              </a:rPr>
              <a:t>AUC</a:t>
            </a:r>
            <a:endParaRPr b="0" i="0" sz="1450" u="none" cap="none" strike="noStrike">
              <a:solidFill>
                <a:schemeClr val="dk1"/>
              </a:solidFill>
              <a:latin typeface="Calibri"/>
              <a:ea typeface="Calibri"/>
              <a:cs typeface="Calibri"/>
              <a:sym typeface="Calibri"/>
            </a:endParaRPr>
          </a:p>
        </p:txBody>
      </p:sp>
      <p:sp>
        <p:nvSpPr>
          <p:cNvPr id="138" name="Google Shape;138;p12"/>
          <p:cNvSpPr/>
          <p:nvPr/>
        </p:nvSpPr>
        <p:spPr>
          <a:xfrm>
            <a:off x="857129" y="3136106"/>
            <a:ext cx="2399545" cy="30241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i="0" lang="en-US" sz="1450" u="none" cap="none" strike="noStrike">
                <a:solidFill>
                  <a:srgbClr val="4B4A4A"/>
                </a:solidFill>
                <a:latin typeface="Geist"/>
                <a:ea typeface="Geist"/>
                <a:cs typeface="Geist"/>
                <a:sym typeface="Geist"/>
              </a:rPr>
              <a:t>A — Labels faibles</a:t>
            </a:r>
            <a:endParaRPr b="0" i="0" sz="1450" u="none" cap="none" strike="noStrike">
              <a:solidFill>
                <a:schemeClr val="dk1"/>
              </a:solidFill>
              <a:latin typeface="Calibri"/>
              <a:ea typeface="Calibri"/>
              <a:cs typeface="Calibri"/>
              <a:sym typeface="Calibri"/>
            </a:endParaRPr>
          </a:p>
        </p:txBody>
      </p:sp>
      <p:sp>
        <p:nvSpPr>
          <p:cNvPr id="139" name="Google Shape;139;p12"/>
          <p:cNvSpPr/>
          <p:nvPr/>
        </p:nvSpPr>
        <p:spPr>
          <a:xfrm>
            <a:off x="3031454" y="3136106"/>
            <a:ext cx="1786786" cy="60483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0" i="0" lang="en-US" sz="1450" u="none" cap="none" strike="noStrike">
                <a:solidFill>
                  <a:srgbClr val="4B4A4A"/>
                </a:solidFill>
                <a:latin typeface="Geist"/>
                <a:ea typeface="Geist"/>
                <a:cs typeface="Geist"/>
                <a:sym typeface="Geist"/>
              </a:rPr>
              <a:t>1 406 weak labels (10 epochs)</a:t>
            </a:r>
            <a:endParaRPr b="0" i="0" sz="1450" u="none" cap="none" strike="noStrike">
              <a:solidFill>
                <a:schemeClr val="dk1"/>
              </a:solidFill>
              <a:latin typeface="Calibri"/>
              <a:ea typeface="Calibri"/>
              <a:cs typeface="Calibri"/>
              <a:sym typeface="Calibri"/>
            </a:endParaRPr>
          </a:p>
        </p:txBody>
      </p:sp>
      <p:sp>
        <p:nvSpPr>
          <p:cNvPr id="140" name="Google Shape;140;p12"/>
          <p:cNvSpPr/>
          <p:nvPr/>
        </p:nvSpPr>
        <p:spPr>
          <a:xfrm>
            <a:off x="5202600" y="3136100"/>
            <a:ext cx="6558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0" i="0" lang="en-US" sz="1450" u="none" cap="none" strike="noStrike">
                <a:solidFill>
                  <a:srgbClr val="4B4A4A"/>
                </a:solidFill>
                <a:latin typeface="Geist"/>
                <a:ea typeface="Geist"/>
                <a:cs typeface="Geist"/>
                <a:sym typeface="Geist"/>
              </a:rPr>
              <a:t>0,30</a:t>
            </a:r>
            <a:endParaRPr b="0" i="0" sz="1450" u="none" cap="none" strike="noStrike">
              <a:solidFill>
                <a:schemeClr val="dk1"/>
              </a:solidFill>
              <a:latin typeface="Calibri"/>
              <a:ea typeface="Calibri"/>
              <a:cs typeface="Calibri"/>
              <a:sym typeface="Calibri"/>
            </a:endParaRPr>
          </a:p>
        </p:txBody>
      </p:sp>
      <p:sp>
        <p:nvSpPr>
          <p:cNvPr id="141" name="Google Shape;141;p12"/>
          <p:cNvSpPr/>
          <p:nvPr/>
        </p:nvSpPr>
        <p:spPr>
          <a:xfrm>
            <a:off x="6385735" y="3136100"/>
            <a:ext cx="6558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0" i="0" lang="en-US" sz="1450" u="none" cap="none" strike="noStrike">
                <a:solidFill>
                  <a:srgbClr val="4B4A4A"/>
                </a:solidFill>
                <a:latin typeface="Geist"/>
                <a:ea typeface="Geist"/>
                <a:cs typeface="Geist"/>
                <a:sym typeface="Geist"/>
              </a:rPr>
              <a:t>0,20</a:t>
            </a:r>
            <a:endParaRPr b="0" i="0" sz="1450" u="none" cap="none" strike="noStrike">
              <a:solidFill>
                <a:schemeClr val="dk1"/>
              </a:solidFill>
              <a:latin typeface="Calibri"/>
              <a:ea typeface="Calibri"/>
              <a:cs typeface="Calibri"/>
              <a:sym typeface="Calibri"/>
            </a:endParaRPr>
          </a:p>
        </p:txBody>
      </p:sp>
      <p:sp>
        <p:nvSpPr>
          <p:cNvPr id="142" name="Google Shape;142;p12"/>
          <p:cNvSpPr/>
          <p:nvPr/>
        </p:nvSpPr>
        <p:spPr>
          <a:xfrm>
            <a:off x="10381811" y="3136100"/>
            <a:ext cx="6558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0" i="0" lang="en-US" sz="1450" u="none" cap="none" strike="noStrike">
                <a:solidFill>
                  <a:srgbClr val="4B4A4A"/>
                </a:solidFill>
                <a:latin typeface="Geist"/>
                <a:ea typeface="Geist"/>
                <a:cs typeface="Geist"/>
                <a:sym typeface="Geist"/>
              </a:rPr>
              <a:t>0,13</a:t>
            </a:r>
            <a:endParaRPr b="0" i="0" sz="1450" u="none" cap="none" strike="noStrike">
              <a:solidFill>
                <a:schemeClr val="dk1"/>
              </a:solidFill>
              <a:latin typeface="Calibri"/>
              <a:ea typeface="Calibri"/>
              <a:cs typeface="Calibri"/>
              <a:sym typeface="Calibri"/>
            </a:endParaRPr>
          </a:p>
        </p:txBody>
      </p:sp>
      <p:sp>
        <p:nvSpPr>
          <p:cNvPr id="143" name="Google Shape;143;p12"/>
          <p:cNvSpPr/>
          <p:nvPr/>
        </p:nvSpPr>
        <p:spPr>
          <a:xfrm>
            <a:off x="857129" y="3986808"/>
            <a:ext cx="1789961" cy="60483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i="0" lang="en-US" sz="1450" u="none" cap="none" strike="noStrike">
                <a:solidFill>
                  <a:srgbClr val="4B4A4A"/>
                </a:solidFill>
                <a:latin typeface="Geist"/>
                <a:ea typeface="Geist"/>
                <a:cs typeface="Geist"/>
                <a:sym typeface="Geist"/>
              </a:rPr>
              <a:t>B — Weak → Fine-tuning</a:t>
            </a:r>
            <a:endParaRPr b="0" i="0" sz="1450" u="none" cap="none" strike="noStrike">
              <a:solidFill>
                <a:schemeClr val="dk1"/>
              </a:solidFill>
              <a:latin typeface="Calibri"/>
              <a:ea typeface="Calibri"/>
              <a:cs typeface="Calibri"/>
              <a:sym typeface="Calibri"/>
            </a:endParaRPr>
          </a:p>
        </p:txBody>
      </p:sp>
      <p:sp>
        <p:nvSpPr>
          <p:cNvPr id="144" name="Google Shape;144;p12"/>
          <p:cNvSpPr/>
          <p:nvPr/>
        </p:nvSpPr>
        <p:spPr>
          <a:xfrm>
            <a:off x="3031454" y="3986808"/>
            <a:ext cx="1786786" cy="60483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0" i="0" lang="en-US" sz="1450" u="none" cap="none" strike="noStrike">
                <a:solidFill>
                  <a:srgbClr val="4B4A4A"/>
                </a:solidFill>
                <a:latin typeface="Geist"/>
                <a:ea typeface="Geist"/>
                <a:cs typeface="Geist"/>
                <a:sym typeface="Geist"/>
              </a:rPr>
              <a:t>1 406 weak → 80 labels forts (20 ep.)</a:t>
            </a:r>
            <a:endParaRPr b="0" i="0" sz="1450" u="none" cap="none" strike="noStrike">
              <a:solidFill>
                <a:schemeClr val="dk1"/>
              </a:solidFill>
              <a:latin typeface="Calibri"/>
              <a:ea typeface="Calibri"/>
              <a:cs typeface="Calibri"/>
              <a:sym typeface="Calibri"/>
            </a:endParaRPr>
          </a:p>
        </p:txBody>
      </p:sp>
      <p:sp>
        <p:nvSpPr>
          <p:cNvPr id="145" name="Google Shape;145;p12"/>
          <p:cNvSpPr/>
          <p:nvPr/>
        </p:nvSpPr>
        <p:spPr>
          <a:xfrm>
            <a:off x="5202600" y="3986800"/>
            <a:ext cx="6558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i="0" lang="en-US" sz="1450" u="none" cap="none" strike="noStrike">
                <a:solidFill>
                  <a:srgbClr val="4B4A4A"/>
                </a:solidFill>
                <a:latin typeface="Geist"/>
                <a:ea typeface="Geist"/>
                <a:cs typeface="Geist"/>
                <a:sym typeface="Geist"/>
              </a:rPr>
              <a:t>0,95</a:t>
            </a:r>
            <a:endParaRPr b="0" i="0" sz="1450" u="none" cap="none" strike="noStrike">
              <a:solidFill>
                <a:schemeClr val="dk1"/>
              </a:solidFill>
              <a:latin typeface="Calibri"/>
              <a:ea typeface="Calibri"/>
              <a:cs typeface="Calibri"/>
              <a:sym typeface="Calibri"/>
            </a:endParaRPr>
          </a:p>
        </p:txBody>
      </p:sp>
      <p:sp>
        <p:nvSpPr>
          <p:cNvPr id="146" name="Google Shape;146;p12"/>
          <p:cNvSpPr/>
          <p:nvPr/>
        </p:nvSpPr>
        <p:spPr>
          <a:xfrm>
            <a:off x="6385735" y="3986805"/>
            <a:ext cx="6558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i="0" lang="en-US" sz="1450" u="none" cap="none" strike="noStrike">
                <a:solidFill>
                  <a:srgbClr val="4B4A4A"/>
                </a:solidFill>
                <a:latin typeface="Geist"/>
                <a:ea typeface="Geist"/>
                <a:cs typeface="Geist"/>
                <a:sym typeface="Geist"/>
              </a:rPr>
              <a:t>0,95</a:t>
            </a:r>
            <a:endParaRPr b="0" i="0" sz="1450" u="none" cap="none" strike="noStrike">
              <a:solidFill>
                <a:schemeClr val="dk1"/>
              </a:solidFill>
              <a:latin typeface="Calibri"/>
              <a:ea typeface="Calibri"/>
              <a:cs typeface="Calibri"/>
              <a:sym typeface="Calibri"/>
            </a:endParaRPr>
          </a:p>
        </p:txBody>
      </p:sp>
      <p:sp>
        <p:nvSpPr>
          <p:cNvPr id="147" name="Google Shape;147;p12"/>
          <p:cNvSpPr/>
          <p:nvPr/>
        </p:nvSpPr>
        <p:spPr>
          <a:xfrm>
            <a:off x="10381811" y="3986805"/>
            <a:ext cx="6558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i="0" lang="en-US" sz="1450" u="none" cap="none" strike="noStrike">
                <a:solidFill>
                  <a:srgbClr val="4B4A4A"/>
                </a:solidFill>
                <a:latin typeface="Geist"/>
                <a:ea typeface="Geist"/>
                <a:cs typeface="Geist"/>
                <a:sym typeface="Geist"/>
              </a:rPr>
              <a:t>1,00</a:t>
            </a:r>
            <a:endParaRPr b="0" i="0" sz="1450" u="none" cap="none" strike="noStrike">
              <a:solidFill>
                <a:schemeClr val="dk1"/>
              </a:solidFill>
              <a:latin typeface="Calibri"/>
              <a:ea typeface="Calibri"/>
              <a:cs typeface="Calibri"/>
              <a:sym typeface="Calibri"/>
            </a:endParaRPr>
          </a:p>
        </p:txBody>
      </p:sp>
      <p:sp>
        <p:nvSpPr>
          <p:cNvPr id="148" name="Google Shape;148;p12"/>
          <p:cNvSpPr/>
          <p:nvPr/>
        </p:nvSpPr>
        <p:spPr>
          <a:xfrm>
            <a:off x="661475" y="4930378"/>
            <a:ext cx="10868745" cy="1039416"/>
          </a:xfrm>
          <a:prstGeom prst="roundRect">
            <a:avLst>
              <a:gd fmla="val 16367" name="adj"/>
            </a:avLst>
          </a:prstGeom>
          <a:solidFill>
            <a:srgbClr val="B6FC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12"/>
          <p:cNvPicPr preferRelativeResize="0"/>
          <p:nvPr/>
        </p:nvPicPr>
        <p:blipFill rotWithShape="1">
          <a:blip r:embed="rId3">
            <a:alphaModFix/>
          </a:blip>
          <a:srcRect b="0" l="0" r="0" t="0"/>
          <a:stretch/>
        </p:blipFill>
        <p:spPr>
          <a:xfrm>
            <a:off x="850482" y="5198070"/>
            <a:ext cx="236234" cy="189012"/>
          </a:xfrm>
          <a:prstGeom prst="rect">
            <a:avLst/>
          </a:prstGeom>
          <a:noFill/>
          <a:ln>
            <a:noFill/>
          </a:ln>
        </p:spPr>
      </p:pic>
      <p:sp>
        <p:nvSpPr>
          <p:cNvPr id="150" name="Google Shape;150;p12"/>
          <p:cNvSpPr/>
          <p:nvPr/>
        </p:nvSpPr>
        <p:spPr>
          <a:xfrm>
            <a:off x="1275723" y="5147667"/>
            <a:ext cx="10065490" cy="60483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1450"/>
              <a:buFont typeface="Geist"/>
              <a:buNone/>
            </a:pPr>
            <a:r>
              <a:rPr b="0" i="0" lang="en-US" sz="1450" u="none" cap="none" strike="noStrike">
                <a:solidFill>
                  <a:srgbClr val="000000"/>
                </a:solidFill>
                <a:latin typeface="Geist"/>
                <a:ea typeface="Geist"/>
                <a:cs typeface="Geist"/>
                <a:sym typeface="Geist"/>
              </a:rPr>
              <a:t>Gain Modèle B vs A : </a:t>
            </a:r>
            <a:r>
              <a:rPr b="1" i="0" lang="en-US" sz="1450" u="none" cap="none" strike="noStrike">
                <a:solidFill>
                  <a:srgbClr val="000000"/>
                </a:solidFill>
                <a:latin typeface="Geist"/>
                <a:ea typeface="Geist"/>
                <a:cs typeface="Geist"/>
                <a:sym typeface="Geist"/>
              </a:rPr>
              <a:t>+65 pts Accuracy | +75 pts F1 | AUC 0,13 → 1,00</a:t>
            </a:r>
            <a:r>
              <a:rPr b="0" i="0" lang="en-US" sz="1450" u="none" cap="none" strike="noStrike">
                <a:solidFill>
                  <a:srgbClr val="000000"/>
                </a:solidFill>
                <a:latin typeface="Geist"/>
                <a:ea typeface="Geist"/>
                <a:cs typeface="Geist"/>
                <a:sym typeface="Geist"/>
              </a:rPr>
              <a:t> — le warm start sur</a:t>
            </a:r>
            <a:r>
              <a:rPr lang="en-US" sz="1450">
                <a:latin typeface="Geist"/>
                <a:ea typeface="Geist"/>
                <a:cs typeface="Geist"/>
                <a:sym typeface="Geist"/>
              </a:rPr>
              <a:t> </a:t>
            </a:r>
            <a:r>
              <a:rPr b="0" i="0" lang="en-US" sz="1450" u="none" cap="none" strike="noStrike">
                <a:solidFill>
                  <a:srgbClr val="000000"/>
                </a:solidFill>
                <a:latin typeface="Geist"/>
                <a:ea typeface="Geist"/>
                <a:cs typeface="Geist"/>
                <a:sym typeface="Geist"/>
              </a:rPr>
              <a:t>labels faibles + fine-tuning ciblé produit un classifieur quasi-parfait.</a:t>
            </a:r>
            <a:endParaRPr b="0" i="0" sz="1450" u="none" cap="none" strike="noStrike">
              <a:solidFill>
                <a:schemeClr val="dk1"/>
              </a:solidFill>
              <a:latin typeface="Calibri"/>
              <a:ea typeface="Calibri"/>
              <a:cs typeface="Calibri"/>
              <a:sym typeface="Calibri"/>
            </a:endParaRPr>
          </a:p>
        </p:txBody>
      </p:sp>
      <p:sp>
        <p:nvSpPr>
          <p:cNvPr id="151" name="Google Shape;151;p12"/>
          <p:cNvSpPr/>
          <p:nvPr/>
        </p:nvSpPr>
        <p:spPr>
          <a:xfrm>
            <a:off x="7537776" y="2589141"/>
            <a:ext cx="8895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lang="en-US" sz="1450">
                <a:solidFill>
                  <a:srgbClr val="4B4A4A"/>
                </a:solidFill>
                <a:latin typeface="Geist"/>
                <a:ea typeface="Geist"/>
                <a:cs typeface="Geist"/>
                <a:sym typeface="Geist"/>
              </a:rPr>
              <a:t>Rappel</a:t>
            </a:r>
            <a:endParaRPr b="0" i="0" sz="1450" u="none" cap="none" strike="noStrike">
              <a:solidFill>
                <a:schemeClr val="dk1"/>
              </a:solidFill>
              <a:latin typeface="Calibri"/>
              <a:ea typeface="Calibri"/>
              <a:cs typeface="Calibri"/>
              <a:sym typeface="Calibri"/>
            </a:endParaRPr>
          </a:p>
        </p:txBody>
      </p:sp>
      <p:sp>
        <p:nvSpPr>
          <p:cNvPr id="152" name="Google Shape;152;p12"/>
          <p:cNvSpPr/>
          <p:nvPr/>
        </p:nvSpPr>
        <p:spPr>
          <a:xfrm>
            <a:off x="7537776" y="3137392"/>
            <a:ext cx="6558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lang="en-US" sz="1450">
                <a:solidFill>
                  <a:srgbClr val="4B4A4A"/>
                </a:solidFill>
                <a:latin typeface="Geist"/>
                <a:ea typeface="Geist"/>
                <a:cs typeface="Geist"/>
                <a:sym typeface="Geist"/>
              </a:rPr>
              <a:t>0,60</a:t>
            </a:r>
            <a:endParaRPr b="0" i="0" sz="1450" u="none" cap="none" strike="noStrike">
              <a:solidFill>
                <a:schemeClr val="dk1"/>
              </a:solidFill>
              <a:latin typeface="Calibri"/>
              <a:ea typeface="Calibri"/>
              <a:cs typeface="Calibri"/>
              <a:sym typeface="Calibri"/>
            </a:endParaRPr>
          </a:p>
        </p:txBody>
      </p:sp>
      <p:sp>
        <p:nvSpPr>
          <p:cNvPr id="153" name="Google Shape;153;p12"/>
          <p:cNvSpPr/>
          <p:nvPr/>
        </p:nvSpPr>
        <p:spPr>
          <a:xfrm>
            <a:off x="7537776" y="3988096"/>
            <a:ext cx="6558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lang="en-US" sz="1450">
                <a:solidFill>
                  <a:srgbClr val="4B4A4A"/>
                </a:solidFill>
                <a:latin typeface="Geist"/>
                <a:ea typeface="Geist"/>
                <a:cs typeface="Geist"/>
                <a:sym typeface="Geist"/>
              </a:rPr>
              <a:t>1</a:t>
            </a:r>
            <a:endParaRPr b="0" i="0" sz="1450" u="none" cap="none" strike="noStrike">
              <a:solidFill>
                <a:schemeClr val="dk1"/>
              </a:solidFill>
              <a:latin typeface="Calibri"/>
              <a:ea typeface="Calibri"/>
              <a:cs typeface="Calibri"/>
              <a:sym typeface="Calibri"/>
            </a:endParaRPr>
          </a:p>
        </p:txBody>
      </p:sp>
      <p:sp>
        <p:nvSpPr>
          <p:cNvPr id="154" name="Google Shape;154;p12"/>
          <p:cNvSpPr/>
          <p:nvPr/>
        </p:nvSpPr>
        <p:spPr>
          <a:xfrm>
            <a:off x="8864172" y="2590433"/>
            <a:ext cx="8895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lang="en-US" sz="1450">
                <a:solidFill>
                  <a:srgbClr val="4B4A4A"/>
                </a:solidFill>
                <a:latin typeface="Geist"/>
                <a:ea typeface="Geist"/>
                <a:cs typeface="Geist"/>
                <a:sym typeface="Geist"/>
              </a:rPr>
              <a:t>Precision</a:t>
            </a:r>
            <a:endParaRPr b="0" i="0" sz="1450" u="none" cap="none" strike="noStrike">
              <a:solidFill>
                <a:schemeClr val="dk1"/>
              </a:solidFill>
              <a:latin typeface="Calibri"/>
              <a:ea typeface="Calibri"/>
              <a:cs typeface="Calibri"/>
              <a:sym typeface="Calibri"/>
            </a:endParaRPr>
          </a:p>
        </p:txBody>
      </p:sp>
      <p:sp>
        <p:nvSpPr>
          <p:cNvPr id="155" name="Google Shape;155;p12"/>
          <p:cNvSpPr/>
          <p:nvPr/>
        </p:nvSpPr>
        <p:spPr>
          <a:xfrm>
            <a:off x="8864173" y="3138683"/>
            <a:ext cx="6558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0" i="0" lang="en-US" sz="1450" u="none" cap="none" strike="noStrike">
                <a:solidFill>
                  <a:srgbClr val="4B4A4A"/>
                </a:solidFill>
                <a:latin typeface="Geist"/>
                <a:ea typeface="Geist"/>
                <a:cs typeface="Geist"/>
                <a:sym typeface="Geist"/>
              </a:rPr>
              <a:t>0,</a:t>
            </a:r>
            <a:r>
              <a:rPr lang="en-US" sz="1450">
                <a:solidFill>
                  <a:srgbClr val="4B4A4A"/>
                </a:solidFill>
                <a:latin typeface="Geist"/>
                <a:ea typeface="Geist"/>
                <a:cs typeface="Geist"/>
                <a:sym typeface="Geist"/>
              </a:rPr>
              <a:t>37</a:t>
            </a:r>
            <a:endParaRPr b="0" i="0" sz="1450" u="none" cap="none" strike="noStrike">
              <a:solidFill>
                <a:schemeClr val="dk1"/>
              </a:solidFill>
              <a:latin typeface="Calibri"/>
              <a:ea typeface="Calibri"/>
              <a:cs typeface="Calibri"/>
              <a:sym typeface="Calibri"/>
            </a:endParaRPr>
          </a:p>
        </p:txBody>
      </p:sp>
      <p:sp>
        <p:nvSpPr>
          <p:cNvPr id="156" name="Google Shape;156;p12"/>
          <p:cNvSpPr/>
          <p:nvPr/>
        </p:nvSpPr>
        <p:spPr>
          <a:xfrm>
            <a:off x="8864173" y="3989388"/>
            <a:ext cx="655800" cy="3024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4B4A4A"/>
              </a:buClr>
              <a:buSzPts val="1450"/>
              <a:buFont typeface="Geist"/>
              <a:buNone/>
            </a:pPr>
            <a:r>
              <a:rPr b="1" lang="en-US" sz="1450">
                <a:solidFill>
                  <a:srgbClr val="4B4A4A"/>
                </a:solidFill>
                <a:latin typeface="Geist"/>
                <a:ea typeface="Geist"/>
                <a:cs typeface="Geist"/>
                <a:sym typeface="Geist"/>
              </a:rPr>
              <a:t>1</a:t>
            </a:r>
            <a:endParaRPr b="0" i="0" sz="1450" u="none" cap="none" strike="noStrike">
              <a:solidFill>
                <a:schemeClr val="dk1"/>
              </a:solidFill>
              <a:latin typeface="Calibri"/>
              <a:ea typeface="Calibri"/>
              <a:cs typeface="Calibri"/>
              <a:sym typeface="Calibri"/>
            </a:endParaRPr>
          </a:p>
        </p:txBody>
      </p:sp>
      <p:sp>
        <p:nvSpPr>
          <p:cNvPr id="157" name="Google Shape;157;p12"/>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chemeClr val="lt1"/>
                </a:solidFill>
              </a:rPr>
              <a:t>9</a:t>
            </a:r>
            <a:endParaRPr b="1" sz="16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p:nvPr/>
        </p:nvSpPr>
        <p:spPr>
          <a:xfrm>
            <a:off x="661475" y="418450"/>
            <a:ext cx="10416000" cy="4491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2950"/>
              <a:buFont typeface="Arial"/>
              <a:buNone/>
            </a:pPr>
            <a:r>
              <a:rPr b="1" i="0" lang="en-US" sz="2950" u="none" cap="none" strike="noStrike">
                <a:solidFill>
                  <a:srgbClr val="006747"/>
                </a:solidFill>
                <a:latin typeface="Arial"/>
                <a:ea typeface="Arial"/>
                <a:cs typeface="Arial"/>
                <a:sym typeface="Arial"/>
              </a:rPr>
              <a:t>Étape </a:t>
            </a:r>
            <a:r>
              <a:rPr b="1" lang="en-US" sz="2950">
                <a:solidFill>
                  <a:srgbClr val="006747"/>
                </a:solidFill>
              </a:rPr>
              <a:t>4</a:t>
            </a:r>
            <a:r>
              <a:rPr b="1" i="0" lang="en-US" sz="2950" u="none" cap="none" strike="noStrike">
                <a:solidFill>
                  <a:srgbClr val="006747"/>
                </a:solidFill>
                <a:latin typeface="Arial"/>
                <a:ea typeface="Arial"/>
                <a:cs typeface="Arial"/>
                <a:sym typeface="Arial"/>
              </a:rPr>
              <a:t> — </a:t>
            </a:r>
            <a:r>
              <a:rPr b="1" lang="en-US" sz="2950">
                <a:solidFill>
                  <a:srgbClr val="006747"/>
                </a:solidFill>
              </a:rPr>
              <a:t>Evaluation comparative</a:t>
            </a:r>
            <a:endParaRPr b="0" i="0" sz="2950" u="none" cap="none" strike="noStrike">
              <a:solidFill>
                <a:schemeClr val="dk1"/>
              </a:solidFill>
              <a:latin typeface="Calibri"/>
              <a:ea typeface="Calibri"/>
              <a:cs typeface="Calibri"/>
              <a:sym typeface="Calibri"/>
            </a:endParaRPr>
          </a:p>
        </p:txBody>
      </p:sp>
      <p:pic>
        <p:nvPicPr>
          <p:cNvPr id="164" name="Google Shape;164;p13"/>
          <p:cNvPicPr preferRelativeResize="0"/>
          <p:nvPr/>
        </p:nvPicPr>
        <p:blipFill rotWithShape="1">
          <a:blip r:embed="rId3">
            <a:alphaModFix/>
          </a:blip>
          <a:srcRect b="0" l="0" r="50067" t="0"/>
          <a:stretch/>
        </p:blipFill>
        <p:spPr>
          <a:xfrm>
            <a:off x="557975" y="3306875"/>
            <a:ext cx="3308523" cy="2675125"/>
          </a:xfrm>
          <a:prstGeom prst="rect">
            <a:avLst/>
          </a:prstGeom>
          <a:noFill/>
          <a:ln>
            <a:noFill/>
          </a:ln>
        </p:spPr>
      </p:pic>
      <p:pic>
        <p:nvPicPr>
          <p:cNvPr id="165" name="Google Shape;165;p13"/>
          <p:cNvPicPr preferRelativeResize="0"/>
          <p:nvPr/>
        </p:nvPicPr>
        <p:blipFill rotWithShape="1">
          <a:blip r:embed="rId3">
            <a:alphaModFix/>
          </a:blip>
          <a:srcRect b="0" l="49935" r="0" t="0"/>
          <a:stretch/>
        </p:blipFill>
        <p:spPr>
          <a:xfrm>
            <a:off x="4300774" y="3338750"/>
            <a:ext cx="3277899" cy="2643250"/>
          </a:xfrm>
          <a:prstGeom prst="rect">
            <a:avLst/>
          </a:prstGeom>
          <a:noFill/>
          <a:ln>
            <a:noFill/>
          </a:ln>
        </p:spPr>
      </p:pic>
      <p:pic>
        <p:nvPicPr>
          <p:cNvPr id="166" name="Google Shape;166;p13"/>
          <p:cNvPicPr preferRelativeResize="0"/>
          <p:nvPr/>
        </p:nvPicPr>
        <p:blipFill>
          <a:blip r:embed="rId4">
            <a:alphaModFix/>
          </a:blip>
          <a:stretch>
            <a:fillRect/>
          </a:stretch>
        </p:blipFill>
        <p:spPr>
          <a:xfrm>
            <a:off x="7868200" y="1019916"/>
            <a:ext cx="3922425" cy="3257600"/>
          </a:xfrm>
          <a:prstGeom prst="rect">
            <a:avLst/>
          </a:prstGeom>
          <a:noFill/>
          <a:ln>
            <a:noFill/>
          </a:ln>
        </p:spPr>
      </p:pic>
      <p:sp>
        <p:nvSpPr>
          <p:cNvPr id="167" name="Google Shape;167;p13"/>
          <p:cNvSpPr/>
          <p:nvPr/>
        </p:nvSpPr>
        <p:spPr>
          <a:xfrm>
            <a:off x="661475" y="1386500"/>
            <a:ext cx="3058200" cy="177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1150"/>
              <a:buFont typeface="Geist"/>
              <a:buNone/>
            </a:pPr>
            <a:r>
              <a:rPr b="1" lang="en-US" sz="1250">
                <a:solidFill>
                  <a:srgbClr val="4B4A4A"/>
                </a:solidFill>
                <a:latin typeface="Geist"/>
                <a:ea typeface="Geist"/>
                <a:cs typeface="Geist"/>
                <a:sym typeface="Geist"/>
              </a:rPr>
              <a:t>Modèle A (Acc = 0.25)</a:t>
            </a:r>
            <a:r>
              <a:rPr lang="en-US" sz="1250">
                <a:solidFill>
                  <a:srgbClr val="4B4A4A"/>
                </a:solidFill>
                <a:latin typeface="Geist"/>
                <a:ea typeface="Geist"/>
                <a:cs typeface="Geist"/>
                <a:sym typeface="Geist"/>
              </a:rPr>
              <a:t> : le modèle classifie très mal les deux classes. Cela indique que les weak labels issus du clustering K-Means (ARI ≈ 0.11) sont trop bruités pour qu'un ResNet50 apprenne une représentation discriminante sans supervision directe</a:t>
            </a:r>
            <a:endParaRPr b="0" i="0" sz="1250" u="none" cap="none" strike="noStrike">
              <a:solidFill>
                <a:schemeClr val="dk1"/>
              </a:solidFill>
              <a:latin typeface="Calibri"/>
              <a:ea typeface="Calibri"/>
              <a:cs typeface="Calibri"/>
              <a:sym typeface="Calibri"/>
            </a:endParaRPr>
          </a:p>
        </p:txBody>
      </p:sp>
      <p:sp>
        <p:nvSpPr>
          <p:cNvPr id="168" name="Google Shape;168;p13"/>
          <p:cNvSpPr/>
          <p:nvPr/>
        </p:nvSpPr>
        <p:spPr>
          <a:xfrm>
            <a:off x="4340375" y="1386500"/>
            <a:ext cx="3058200" cy="1775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1150"/>
              <a:buFont typeface="Geist"/>
              <a:buNone/>
            </a:pPr>
            <a:r>
              <a:rPr b="1" lang="en-US" sz="1250">
                <a:solidFill>
                  <a:srgbClr val="4B4A4A"/>
                </a:solidFill>
                <a:latin typeface="Geist"/>
                <a:ea typeface="Geist"/>
                <a:cs typeface="Geist"/>
                <a:sym typeface="Geist"/>
              </a:rPr>
              <a:t>Modèle B (Acc = 0.95) </a:t>
            </a:r>
            <a:r>
              <a:rPr lang="en-US" sz="1250">
                <a:solidFill>
                  <a:srgbClr val="4B4A4A"/>
                </a:solidFill>
                <a:latin typeface="Geist"/>
                <a:ea typeface="Geist"/>
                <a:cs typeface="Geist"/>
                <a:sym typeface="Geist"/>
              </a:rPr>
              <a:t>: seulement 1 erreur sur 20 images de test. Le fine-tuning sur les 80 labels forts redresse complètement les prédictions, confirmant l'efficacité de la stratégie semi-supervisée</a:t>
            </a:r>
            <a:endParaRPr b="0" i="0" sz="1250" u="none" cap="none" strike="noStrike">
              <a:solidFill>
                <a:schemeClr val="dk1"/>
              </a:solidFill>
              <a:latin typeface="Calibri"/>
              <a:ea typeface="Calibri"/>
              <a:cs typeface="Calibri"/>
              <a:sym typeface="Calibri"/>
            </a:endParaRPr>
          </a:p>
        </p:txBody>
      </p:sp>
      <p:sp>
        <p:nvSpPr>
          <p:cNvPr id="169" name="Google Shape;169;p13"/>
          <p:cNvSpPr/>
          <p:nvPr/>
        </p:nvSpPr>
        <p:spPr>
          <a:xfrm>
            <a:off x="7868200" y="4384193"/>
            <a:ext cx="3922500" cy="1806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1150"/>
              <a:buFont typeface="Geist"/>
              <a:buNone/>
            </a:pPr>
            <a:r>
              <a:rPr b="1" lang="en-US" sz="1250">
                <a:solidFill>
                  <a:srgbClr val="4B4A4A"/>
                </a:solidFill>
                <a:latin typeface="Geist"/>
                <a:ea typeface="Geist"/>
                <a:cs typeface="Geist"/>
                <a:sym typeface="Geist"/>
              </a:rPr>
              <a:t>Modèle A (AUC = 0.13) </a:t>
            </a:r>
            <a:r>
              <a:rPr lang="en-US" sz="1250">
                <a:solidFill>
                  <a:srgbClr val="4B4A4A"/>
                </a:solidFill>
                <a:latin typeface="Geist"/>
                <a:ea typeface="Geist"/>
                <a:cs typeface="Geist"/>
                <a:sym typeface="Geist"/>
              </a:rPr>
              <a:t>: une AUC inférieure à 0.5 signifie que le modèle prédit les classes de façon inversée par rapport à la réalité.</a:t>
            </a:r>
            <a:endParaRPr sz="1250">
              <a:solidFill>
                <a:srgbClr val="4B4A4A"/>
              </a:solidFill>
              <a:latin typeface="Geist"/>
              <a:ea typeface="Geist"/>
              <a:cs typeface="Geist"/>
              <a:sym typeface="Geist"/>
            </a:endParaRPr>
          </a:p>
          <a:p>
            <a:pPr indent="0" lvl="0" marL="0" marR="0" rtl="0" algn="l">
              <a:lnSpc>
                <a:spcPct val="120000"/>
              </a:lnSpc>
              <a:spcBef>
                <a:spcPts val="0"/>
              </a:spcBef>
              <a:spcAft>
                <a:spcPts val="0"/>
              </a:spcAft>
              <a:buClr>
                <a:srgbClr val="4B4A4A"/>
              </a:buClr>
              <a:buSzPts val="1150"/>
              <a:buFont typeface="Geist"/>
              <a:buNone/>
            </a:pPr>
            <a:r>
              <a:rPr b="1" lang="en-US" sz="1250">
                <a:solidFill>
                  <a:srgbClr val="4B4A4A"/>
                </a:solidFill>
                <a:latin typeface="Geist"/>
                <a:ea typeface="Geist"/>
                <a:cs typeface="Geist"/>
                <a:sym typeface="Geist"/>
              </a:rPr>
              <a:t>Modèle B (AUC = 1.00)</a:t>
            </a:r>
            <a:r>
              <a:rPr lang="en-US" sz="1250">
                <a:solidFill>
                  <a:srgbClr val="4B4A4A"/>
                </a:solidFill>
                <a:latin typeface="Geist"/>
                <a:ea typeface="Geist"/>
                <a:cs typeface="Geist"/>
                <a:sym typeface="Geist"/>
              </a:rPr>
              <a:t> : séparation parfaite entre cancer et normal dans l'espace des probabilités. Le modèle discrimine les deux classes sans aucun chevauchement de scores sur le jeu de test</a:t>
            </a:r>
            <a:endParaRPr i="0" sz="1250" u="none" cap="none" strike="noStrike">
              <a:solidFill>
                <a:schemeClr val="dk1"/>
              </a:solidFill>
              <a:latin typeface="Calibri"/>
              <a:ea typeface="Calibri"/>
              <a:cs typeface="Calibri"/>
              <a:sym typeface="Calibri"/>
            </a:endParaRPr>
          </a:p>
        </p:txBody>
      </p:sp>
      <p:sp>
        <p:nvSpPr>
          <p:cNvPr id="170" name="Google Shape;170;p13"/>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chemeClr val="lt1"/>
                </a:solidFill>
              </a:rPr>
              <a:t>10</a:t>
            </a:r>
            <a:endParaRPr b="1" sz="13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4"/>
          <p:cNvSpPr/>
          <p:nvPr/>
        </p:nvSpPr>
        <p:spPr>
          <a:xfrm>
            <a:off x="661475" y="626765"/>
            <a:ext cx="9596197" cy="56118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3500"/>
              <a:buFont typeface="Arial"/>
              <a:buNone/>
            </a:pPr>
            <a:r>
              <a:rPr b="1" i="0" lang="en-US" sz="3500" u="none" cap="none" strike="noStrike">
                <a:solidFill>
                  <a:srgbClr val="006747"/>
                </a:solidFill>
                <a:latin typeface="Arial"/>
                <a:ea typeface="Arial"/>
                <a:cs typeface="Arial"/>
                <a:sym typeface="Arial"/>
              </a:rPr>
              <a:t>Étape </a:t>
            </a:r>
            <a:r>
              <a:rPr b="1" lang="en-US" sz="3500">
                <a:solidFill>
                  <a:srgbClr val="006747"/>
                </a:solidFill>
              </a:rPr>
              <a:t>4</a:t>
            </a:r>
            <a:r>
              <a:rPr b="1" i="0" lang="en-US" sz="3500" u="none" cap="none" strike="noStrike">
                <a:solidFill>
                  <a:srgbClr val="006747"/>
                </a:solidFill>
                <a:latin typeface="Arial"/>
                <a:ea typeface="Arial"/>
                <a:cs typeface="Arial"/>
                <a:sym typeface="Arial"/>
              </a:rPr>
              <a:t> — Pseudo-labellisation itérative</a:t>
            </a:r>
            <a:endParaRPr b="0" i="0" sz="3500" u="none" cap="none" strike="noStrike">
              <a:solidFill>
                <a:schemeClr val="dk1"/>
              </a:solidFill>
              <a:latin typeface="Calibri"/>
              <a:ea typeface="Calibri"/>
              <a:cs typeface="Calibri"/>
              <a:sym typeface="Calibri"/>
            </a:endParaRPr>
          </a:p>
        </p:txBody>
      </p:sp>
      <p:sp>
        <p:nvSpPr>
          <p:cNvPr id="177" name="Google Shape;177;p14"/>
          <p:cNvSpPr/>
          <p:nvPr/>
        </p:nvSpPr>
        <p:spPr>
          <a:xfrm>
            <a:off x="661475" y="1529060"/>
            <a:ext cx="10868745" cy="56018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4A4A"/>
              </a:buClr>
              <a:buSzPts val="1400"/>
              <a:buFont typeface="Geist"/>
              <a:buNone/>
            </a:pPr>
            <a:r>
              <a:rPr b="0" i="0" lang="en-US" sz="1400" u="none" cap="none" strike="noStrike">
                <a:solidFill>
                  <a:srgbClr val="4B4A4A"/>
                </a:solidFill>
                <a:latin typeface="Geist"/>
                <a:ea typeface="Geist"/>
                <a:cs typeface="Geist"/>
                <a:sym typeface="Geist"/>
              </a:rPr>
              <a:t>Principe : </a:t>
            </a:r>
            <a:r>
              <a:rPr b="1" i="0" lang="en-US" sz="1400" u="none" cap="none" strike="noStrike">
                <a:solidFill>
                  <a:srgbClr val="4B4A4A"/>
                </a:solidFill>
                <a:latin typeface="Geist"/>
                <a:ea typeface="Geist"/>
                <a:cs typeface="Geist"/>
                <a:sym typeface="Geist"/>
              </a:rPr>
              <a:t>entraîner</a:t>
            </a:r>
            <a:r>
              <a:rPr b="0" i="0" lang="en-US" sz="1400" u="none" cap="none" strike="noStrike">
                <a:solidFill>
                  <a:srgbClr val="4B4A4A"/>
                </a:solidFill>
                <a:latin typeface="Geist"/>
                <a:ea typeface="Geist"/>
                <a:cs typeface="Geist"/>
                <a:sym typeface="Geist"/>
              </a:rPr>
              <a:t> → </a:t>
            </a:r>
            <a:r>
              <a:rPr b="1" i="0" lang="en-US" sz="1400" u="none" cap="none" strike="noStrike">
                <a:solidFill>
                  <a:srgbClr val="4B4A4A"/>
                </a:solidFill>
                <a:latin typeface="Geist"/>
                <a:ea typeface="Geist"/>
                <a:cs typeface="Geist"/>
                <a:sym typeface="Geist"/>
              </a:rPr>
              <a:t>prédire</a:t>
            </a:r>
            <a:r>
              <a:rPr b="0" i="0" lang="en-US" sz="1400" u="none" cap="none" strike="noStrike">
                <a:solidFill>
                  <a:srgbClr val="4B4A4A"/>
                </a:solidFill>
                <a:latin typeface="Geist"/>
                <a:ea typeface="Geist"/>
                <a:cs typeface="Geist"/>
                <a:sym typeface="Geist"/>
              </a:rPr>
              <a:t> les images non étiquetées → </a:t>
            </a:r>
            <a:r>
              <a:rPr b="1" i="0" lang="en-US" sz="1400" u="none" cap="none" strike="noStrike">
                <a:solidFill>
                  <a:srgbClr val="4B4A4A"/>
                </a:solidFill>
                <a:latin typeface="Geist"/>
                <a:ea typeface="Geist"/>
                <a:cs typeface="Geist"/>
                <a:sym typeface="Geist"/>
              </a:rPr>
              <a:t>conserver</a:t>
            </a:r>
            <a:r>
              <a:rPr b="0" i="0" lang="en-US" sz="1400" u="none" cap="none" strike="noStrike">
                <a:solidFill>
                  <a:srgbClr val="4B4A4A"/>
                </a:solidFill>
                <a:latin typeface="Geist"/>
                <a:ea typeface="Geist"/>
                <a:cs typeface="Geist"/>
                <a:sym typeface="Geist"/>
              </a:rPr>
              <a:t> les prédictions à confiance ≥ </a:t>
            </a:r>
            <a:r>
              <a:rPr b="1" i="0" lang="en-US" sz="1400" u="none" cap="none" strike="noStrike">
                <a:solidFill>
                  <a:srgbClr val="4B4A4A"/>
                </a:solidFill>
                <a:latin typeface="Geist"/>
                <a:ea typeface="Geist"/>
                <a:cs typeface="Geist"/>
                <a:sym typeface="Geist"/>
              </a:rPr>
              <a:t>0,95</a:t>
            </a:r>
            <a:r>
              <a:rPr b="0" i="0" lang="en-US" sz="1400" u="none" cap="none" strike="noStrike">
                <a:solidFill>
                  <a:srgbClr val="4B4A4A"/>
                </a:solidFill>
                <a:latin typeface="Geist"/>
                <a:ea typeface="Geist"/>
                <a:cs typeface="Geist"/>
                <a:sym typeface="Geist"/>
              </a:rPr>
              <a:t> → </a:t>
            </a:r>
            <a:r>
              <a:rPr b="1" i="0" lang="en-US" sz="1400" u="none" cap="none" strike="noStrike">
                <a:solidFill>
                  <a:srgbClr val="4B4A4A"/>
                </a:solidFill>
                <a:latin typeface="Geist"/>
                <a:ea typeface="Geist"/>
                <a:cs typeface="Geist"/>
                <a:sym typeface="Geist"/>
              </a:rPr>
              <a:t>recommencer</a:t>
            </a:r>
            <a:r>
              <a:rPr b="0" i="0" lang="en-US" sz="1400" u="none" cap="none" strike="noStrike">
                <a:solidFill>
                  <a:srgbClr val="4B4A4A"/>
                </a:solidFill>
                <a:latin typeface="Geist"/>
                <a:ea typeface="Geist"/>
                <a:cs typeface="Geist"/>
                <a:sym typeface="Geist"/>
              </a:rPr>
              <a:t>. </a:t>
            </a:r>
            <a:r>
              <a:rPr b="1" i="0" lang="en-US" sz="1400" u="none" cap="none" strike="noStrike">
                <a:solidFill>
                  <a:srgbClr val="4B4A4A"/>
                </a:solidFill>
                <a:latin typeface="Geist"/>
                <a:ea typeface="Geist"/>
                <a:cs typeface="Geist"/>
                <a:sym typeface="Geist"/>
              </a:rPr>
              <a:t>Initialisation</a:t>
            </a:r>
            <a:r>
              <a:rPr b="0" i="0" lang="en-US" sz="1400" u="none" cap="none" strike="noStrike">
                <a:solidFill>
                  <a:srgbClr val="4B4A4A"/>
                </a:solidFill>
                <a:latin typeface="Geist"/>
                <a:ea typeface="Geist"/>
                <a:cs typeface="Geist"/>
                <a:sym typeface="Geist"/>
              </a:rPr>
              <a:t> : </a:t>
            </a:r>
            <a:r>
              <a:rPr b="1" i="0" lang="en-US" sz="1400" u="none" cap="none" strike="noStrike">
                <a:solidFill>
                  <a:srgbClr val="4B4A4A"/>
                </a:solidFill>
                <a:latin typeface="Geist"/>
                <a:ea typeface="Geist"/>
                <a:cs typeface="Geist"/>
                <a:sym typeface="Geist"/>
              </a:rPr>
              <a:t>50 images</a:t>
            </a:r>
            <a:r>
              <a:rPr b="0" i="0" lang="en-US" sz="1400" u="none" cap="none" strike="noStrike">
                <a:solidFill>
                  <a:srgbClr val="4B4A4A"/>
                </a:solidFill>
                <a:latin typeface="Geist"/>
                <a:ea typeface="Geist"/>
                <a:cs typeface="Geist"/>
                <a:sym typeface="Geist"/>
              </a:rPr>
              <a:t> fortement étiquetées (25 cancer + 25 normal).</a:t>
            </a:r>
            <a:endParaRPr b="0" i="0" sz="1400" u="none" cap="none" strike="noStrike">
              <a:solidFill>
                <a:schemeClr val="dk1"/>
              </a:solidFill>
              <a:latin typeface="Calibri"/>
              <a:ea typeface="Calibri"/>
              <a:cs typeface="Calibri"/>
              <a:sym typeface="Calibri"/>
            </a:endParaRPr>
          </a:p>
        </p:txBody>
      </p:sp>
      <p:sp>
        <p:nvSpPr>
          <p:cNvPr id="178" name="Google Shape;178;p14"/>
          <p:cNvSpPr/>
          <p:nvPr/>
        </p:nvSpPr>
        <p:spPr>
          <a:xfrm>
            <a:off x="661479" y="2241653"/>
            <a:ext cx="4542000" cy="280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1750"/>
              <a:buFont typeface="Arial"/>
              <a:buNone/>
            </a:pPr>
            <a:r>
              <a:rPr b="1" i="0" lang="en-US" sz="1550" u="none" cap="none" strike="noStrike">
                <a:solidFill>
                  <a:srgbClr val="006747"/>
                </a:solidFill>
                <a:latin typeface="Arial"/>
                <a:ea typeface="Arial"/>
                <a:cs typeface="Arial"/>
                <a:sym typeface="Arial"/>
              </a:rPr>
              <a:t>Progression du jeu d'entraînement</a:t>
            </a:r>
            <a:endParaRPr b="0" i="0" sz="1550" u="none" cap="none" strike="noStrike">
              <a:solidFill>
                <a:schemeClr val="dk1"/>
              </a:solidFill>
              <a:latin typeface="Calibri"/>
              <a:ea typeface="Calibri"/>
              <a:cs typeface="Calibri"/>
              <a:sym typeface="Calibri"/>
            </a:endParaRPr>
          </a:p>
        </p:txBody>
      </p:sp>
      <p:sp>
        <p:nvSpPr>
          <p:cNvPr id="179" name="Google Shape;179;p14"/>
          <p:cNvSpPr/>
          <p:nvPr/>
        </p:nvSpPr>
        <p:spPr>
          <a:xfrm>
            <a:off x="545247" y="5361011"/>
            <a:ext cx="3558000" cy="1299300"/>
          </a:xfrm>
          <a:prstGeom prst="rect">
            <a:avLst/>
          </a:prstGeom>
          <a:noFill/>
          <a:ln>
            <a:noFill/>
          </a:ln>
        </p:spPr>
        <p:txBody>
          <a:bodyPr anchorCtr="0" anchor="t" bIns="0" lIns="0" spcFirstLastPara="1" rIns="0" wrap="square" tIns="0">
            <a:noAutofit/>
          </a:bodyPr>
          <a:lstStyle/>
          <a:p>
            <a:pPr indent="-284480" lvl="0" marL="284480" marR="0" rtl="0" algn="l">
              <a:lnSpc>
                <a:spcPct val="130000"/>
              </a:lnSpc>
              <a:spcBef>
                <a:spcPts val="0"/>
              </a:spcBef>
              <a:spcAft>
                <a:spcPts val="0"/>
              </a:spcAft>
              <a:buClr>
                <a:srgbClr val="4B4A4A"/>
              </a:buClr>
              <a:buSzPts val="1400"/>
              <a:buFont typeface="Geist"/>
              <a:buChar char="•"/>
            </a:pPr>
            <a:r>
              <a:rPr b="1" i="0" lang="en-US" sz="1400" u="none" cap="none" strike="noStrike">
                <a:solidFill>
                  <a:srgbClr val="4B4A4A"/>
                </a:solidFill>
                <a:latin typeface="Geist"/>
                <a:ea typeface="Geist"/>
                <a:cs typeface="Geist"/>
                <a:sym typeface="Geist"/>
              </a:rPr>
              <a:t>R1 :</a:t>
            </a:r>
            <a:r>
              <a:rPr b="0" i="0" lang="en-US" sz="1400" u="none" cap="none" strike="noStrike">
                <a:solidFill>
                  <a:srgbClr val="4B4A4A"/>
                </a:solidFill>
                <a:latin typeface="Geist"/>
                <a:ea typeface="Geist"/>
                <a:cs typeface="Geist"/>
                <a:sym typeface="Geist"/>
              </a:rPr>
              <a:t> 50 → 221 images (+171)</a:t>
            </a:r>
            <a:endParaRPr b="0" i="0" sz="1400" u="none" cap="none" strike="noStrike">
              <a:solidFill>
                <a:schemeClr val="dk1"/>
              </a:solidFill>
              <a:latin typeface="Calibri"/>
              <a:ea typeface="Calibri"/>
              <a:cs typeface="Calibri"/>
              <a:sym typeface="Calibri"/>
            </a:endParaRPr>
          </a:p>
          <a:p>
            <a:pPr indent="-284480" lvl="0" marL="284480" marR="0" rtl="0" algn="l">
              <a:lnSpc>
                <a:spcPct val="130000"/>
              </a:lnSpc>
              <a:spcBef>
                <a:spcPts val="0"/>
              </a:spcBef>
              <a:spcAft>
                <a:spcPts val="0"/>
              </a:spcAft>
              <a:buClr>
                <a:srgbClr val="4B4A4A"/>
              </a:buClr>
              <a:buSzPts val="1400"/>
              <a:buFont typeface="Geist"/>
              <a:buChar char="•"/>
            </a:pPr>
            <a:r>
              <a:rPr b="1" i="0" lang="en-US" sz="1400" u="none" cap="none" strike="noStrike">
                <a:solidFill>
                  <a:srgbClr val="4B4A4A"/>
                </a:solidFill>
                <a:latin typeface="Geist"/>
                <a:ea typeface="Geist"/>
                <a:cs typeface="Geist"/>
                <a:sym typeface="Geist"/>
              </a:rPr>
              <a:t>R2 :</a:t>
            </a:r>
            <a:r>
              <a:rPr b="0" i="0" lang="en-US" sz="1400" u="none" cap="none" strike="noStrike">
                <a:solidFill>
                  <a:srgbClr val="4B4A4A"/>
                </a:solidFill>
                <a:latin typeface="Geist"/>
                <a:ea typeface="Geist"/>
                <a:cs typeface="Geist"/>
                <a:sym typeface="Geist"/>
              </a:rPr>
              <a:t> 221 → 994 images (+773)</a:t>
            </a:r>
            <a:endParaRPr b="0" i="0" sz="1400" u="none" cap="none" strike="noStrike">
              <a:solidFill>
                <a:schemeClr val="dk1"/>
              </a:solidFill>
              <a:latin typeface="Calibri"/>
              <a:ea typeface="Calibri"/>
              <a:cs typeface="Calibri"/>
              <a:sym typeface="Calibri"/>
            </a:endParaRPr>
          </a:p>
          <a:p>
            <a:pPr indent="-284480" lvl="0" marL="284480" marR="0" rtl="0" algn="l">
              <a:lnSpc>
                <a:spcPct val="130000"/>
              </a:lnSpc>
              <a:spcBef>
                <a:spcPts val="0"/>
              </a:spcBef>
              <a:spcAft>
                <a:spcPts val="0"/>
              </a:spcAft>
              <a:buClr>
                <a:srgbClr val="4B4A4A"/>
              </a:buClr>
              <a:buSzPts val="1400"/>
              <a:buFont typeface="Geist"/>
              <a:buChar char="•"/>
            </a:pPr>
            <a:r>
              <a:rPr b="1" i="0" lang="en-US" sz="1400" u="none" cap="none" strike="noStrike">
                <a:solidFill>
                  <a:srgbClr val="4B4A4A"/>
                </a:solidFill>
                <a:latin typeface="Geist"/>
                <a:ea typeface="Geist"/>
                <a:cs typeface="Geist"/>
                <a:sym typeface="Geist"/>
              </a:rPr>
              <a:t>R3 :</a:t>
            </a:r>
            <a:r>
              <a:rPr b="0" i="0" lang="en-US" sz="1400" u="none" cap="none" strike="noStrike">
                <a:solidFill>
                  <a:srgbClr val="4B4A4A"/>
                </a:solidFill>
                <a:latin typeface="Geist"/>
                <a:ea typeface="Geist"/>
                <a:cs typeface="Geist"/>
                <a:sym typeface="Geist"/>
              </a:rPr>
              <a:t> 994 → 1 295 images (+301)</a:t>
            </a:r>
            <a:endParaRPr b="0" i="0" sz="1400" u="none" cap="none" strike="noStrike">
              <a:solidFill>
                <a:schemeClr val="dk1"/>
              </a:solidFill>
              <a:latin typeface="Calibri"/>
              <a:ea typeface="Calibri"/>
              <a:cs typeface="Calibri"/>
              <a:sym typeface="Calibri"/>
            </a:endParaRPr>
          </a:p>
          <a:p>
            <a:pPr indent="-284480" lvl="0" marL="284480" marR="0" rtl="0" algn="l">
              <a:lnSpc>
                <a:spcPct val="130000"/>
              </a:lnSpc>
              <a:spcBef>
                <a:spcPts val="0"/>
              </a:spcBef>
              <a:spcAft>
                <a:spcPts val="0"/>
              </a:spcAft>
              <a:buClr>
                <a:srgbClr val="4B4A4A"/>
              </a:buClr>
              <a:buSzPts val="1400"/>
              <a:buFont typeface="Geist"/>
              <a:buChar char="•"/>
            </a:pPr>
            <a:r>
              <a:rPr b="1" i="0" lang="en-US" sz="1400" u="none" cap="none" strike="noStrike">
                <a:solidFill>
                  <a:srgbClr val="4B4A4A"/>
                </a:solidFill>
                <a:latin typeface="Geist"/>
                <a:ea typeface="Geist"/>
                <a:cs typeface="Geist"/>
                <a:sym typeface="Geist"/>
              </a:rPr>
              <a:t>R12 :</a:t>
            </a:r>
            <a:r>
              <a:rPr b="0" i="0" lang="en-US" sz="1400" u="none" cap="none" strike="noStrike">
                <a:solidFill>
                  <a:srgbClr val="4B4A4A"/>
                </a:solidFill>
                <a:latin typeface="Geist"/>
                <a:ea typeface="Geist"/>
                <a:cs typeface="Geist"/>
                <a:sym typeface="Geist"/>
              </a:rPr>
              <a:t> 1 456 images finales</a:t>
            </a:r>
            <a:endParaRPr b="0" i="0" sz="1400" u="none" cap="none" strike="noStrike">
              <a:solidFill>
                <a:schemeClr val="dk1"/>
              </a:solidFill>
              <a:latin typeface="Calibri"/>
              <a:ea typeface="Calibri"/>
              <a:cs typeface="Calibri"/>
              <a:sym typeface="Calibri"/>
            </a:endParaRPr>
          </a:p>
        </p:txBody>
      </p:sp>
      <p:sp>
        <p:nvSpPr>
          <p:cNvPr id="180" name="Google Shape;180;p14"/>
          <p:cNvSpPr/>
          <p:nvPr/>
        </p:nvSpPr>
        <p:spPr>
          <a:xfrm>
            <a:off x="4671950" y="5361000"/>
            <a:ext cx="3720300" cy="1299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4A4A"/>
              </a:buClr>
              <a:buSzPts val="1400"/>
              <a:buFont typeface="Geist"/>
              <a:buNone/>
            </a:pPr>
            <a:r>
              <a:rPr b="0" i="0" lang="en-US" sz="1400" u="none" cap="none" strike="noStrike">
                <a:solidFill>
                  <a:srgbClr val="4B4A4A"/>
                </a:solidFill>
                <a:latin typeface="Geist"/>
                <a:ea typeface="Geist"/>
                <a:cs typeface="Geist"/>
                <a:sym typeface="Geist"/>
              </a:rPr>
              <a:t>Résultats finaux : </a:t>
            </a:r>
            <a:endParaRPr b="0" i="0" sz="1400" u="none" cap="none" strike="noStrike">
              <a:solidFill>
                <a:srgbClr val="4B4A4A"/>
              </a:solidFill>
              <a:latin typeface="Geist"/>
              <a:ea typeface="Geist"/>
              <a:cs typeface="Geist"/>
              <a:sym typeface="Geist"/>
            </a:endParaRPr>
          </a:p>
          <a:p>
            <a:pPr indent="0" lvl="0" marL="0" marR="0" rtl="0" algn="l">
              <a:lnSpc>
                <a:spcPct val="130000"/>
              </a:lnSpc>
              <a:spcBef>
                <a:spcPts val="0"/>
              </a:spcBef>
              <a:spcAft>
                <a:spcPts val="0"/>
              </a:spcAft>
              <a:buClr>
                <a:srgbClr val="4B4A4A"/>
              </a:buClr>
              <a:buSzPts val="1400"/>
              <a:buFont typeface="Geist"/>
              <a:buNone/>
            </a:pPr>
            <a:r>
              <a:rPr b="1" i="0" lang="en-US" sz="1400" u="none" cap="none" strike="noStrike">
                <a:solidFill>
                  <a:srgbClr val="4B4A4A"/>
                </a:solidFill>
                <a:latin typeface="Geist"/>
                <a:ea typeface="Geist"/>
                <a:cs typeface="Geist"/>
                <a:sym typeface="Geist"/>
              </a:rPr>
              <a:t>Acc = 0,88 | F1 = 0,88 | AUC = 0,87</a:t>
            </a:r>
            <a:endParaRPr b="0" i="0" sz="1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B4A4A"/>
              </a:buClr>
              <a:buSzPts val="1400"/>
              <a:buFont typeface="Geist"/>
              <a:buNone/>
            </a:pPr>
            <a:r>
              <a:rPr b="0" i="0" lang="en-US" sz="1400" u="none" cap="none" strike="noStrike">
                <a:solidFill>
                  <a:srgbClr val="4B4A4A"/>
                </a:solidFill>
                <a:latin typeface="Geist"/>
                <a:ea typeface="Geist"/>
                <a:cs typeface="Geist"/>
                <a:sym typeface="Geist"/>
              </a:rPr>
              <a:t>47 images jamais labellisées — cas ambigus correctement exclus.</a:t>
            </a:r>
            <a:endParaRPr b="0" i="0" sz="1400" u="none" cap="none" strike="noStrike">
              <a:solidFill>
                <a:schemeClr val="dk1"/>
              </a:solidFill>
              <a:latin typeface="Calibri"/>
              <a:ea typeface="Calibri"/>
              <a:cs typeface="Calibri"/>
              <a:sym typeface="Calibri"/>
            </a:endParaRPr>
          </a:p>
        </p:txBody>
      </p:sp>
      <p:pic>
        <p:nvPicPr>
          <p:cNvPr id="181" name="Google Shape;181;p14"/>
          <p:cNvPicPr preferRelativeResize="0"/>
          <p:nvPr/>
        </p:nvPicPr>
        <p:blipFill>
          <a:blip r:embed="rId3">
            <a:alphaModFix/>
          </a:blip>
          <a:stretch>
            <a:fillRect/>
          </a:stretch>
        </p:blipFill>
        <p:spPr>
          <a:xfrm>
            <a:off x="4730999" y="2634050"/>
            <a:ext cx="3120853" cy="2535700"/>
          </a:xfrm>
          <a:prstGeom prst="rect">
            <a:avLst/>
          </a:prstGeom>
          <a:noFill/>
          <a:ln>
            <a:noFill/>
          </a:ln>
        </p:spPr>
      </p:pic>
      <p:pic>
        <p:nvPicPr>
          <p:cNvPr id="182" name="Google Shape;182;p14"/>
          <p:cNvPicPr preferRelativeResize="0"/>
          <p:nvPr/>
        </p:nvPicPr>
        <p:blipFill>
          <a:blip r:embed="rId4">
            <a:alphaModFix/>
          </a:blip>
          <a:stretch>
            <a:fillRect/>
          </a:stretch>
        </p:blipFill>
        <p:spPr>
          <a:xfrm>
            <a:off x="8798128" y="2600287"/>
            <a:ext cx="2603229" cy="2603229"/>
          </a:xfrm>
          <a:prstGeom prst="rect">
            <a:avLst/>
          </a:prstGeom>
          <a:noFill/>
          <a:ln>
            <a:noFill/>
          </a:ln>
        </p:spPr>
      </p:pic>
      <p:sp>
        <p:nvSpPr>
          <p:cNvPr id="183" name="Google Shape;183;p14"/>
          <p:cNvSpPr/>
          <p:nvPr/>
        </p:nvSpPr>
        <p:spPr>
          <a:xfrm>
            <a:off x="8722425" y="5361005"/>
            <a:ext cx="2754600" cy="1148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4A4A"/>
              </a:buClr>
              <a:buSzPts val="1400"/>
              <a:buFont typeface="Geist"/>
              <a:buNone/>
            </a:pPr>
            <a:r>
              <a:rPr lang="en-US">
                <a:solidFill>
                  <a:srgbClr val="4B4A4A"/>
                </a:solidFill>
                <a:latin typeface="Geist"/>
                <a:ea typeface="Geist"/>
                <a:cs typeface="Geist"/>
                <a:sym typeface="Geist"/>
              </a:rPr>
              <a:t>Une </a:t>
            </a:r>
            <a:r>
              <a:rPr b="1" lang="en-US">
                <a:solidFill>
                  <a:srgbClr val="4B4A4A"/>
                </a:solidFill>
                <a:latin typeface="Geist"/>
                <a:ea typeface="Geist"/>
                <a:cs typeface="Geist"/>
                <a:sym typeface="Geist"/>
              </a:rPr>
              <a:t>AUC de 0.87</a:t>
            </a:r>
            <a:r>
              <a:rPr lang="en-US">
                <a:solidFill>
                  <a:srgbClr val="4B4A4A"/>
                </a:solidFill>
                <a:latin typeface="Geist"/>
                <a:ea typeface="Geist"/>
                <a:cs typeface="Geist"/>
                <a:sym typeface="Geist"/>
              </a:rPr>
              <a:t> traduit une bonne discrimination globale entre cancer et normal</a:t>
            </a:r>
            <a:endParaRPr b="0" i="0" sz="1400" u="none" cap="none" strike="noStrike">
              <a:solidFill>
                <a:schemeClr val="dk1"/>
              </a:solidFill>
              <a:latin typeface="Calibri"/>
              <a:ea typeface="Calibri"/>
              <a:cs typeface="Calibri"/>
              <a:sym typeface="Calibri"/>
            </a:endParaRPr>
          </a:p>
        </p:txBody>
      </p:sp>
      <p:pic>
        <p:nvPicPr>
          <p:cNvPr id="184" name="Google Shape;184;p14"/>
          <p:cNvPicPr preferRelativeResize="0"/>
          <p:nvPr/>
        </p:nvPicPr>
        <p:blipFill>
          <a:blip r:embed="rId5">
            <a:alphaModFix/>
          </a:blip>
          <a:stretch>
            <a:fillRect/>
          </a:stretch>
        </p:blipFill>
        <p:spPr>
          <a:xfrm>
            <a:off x="545249" y="2627234"/>
            <a:ext cx="3506825" cy="2535700"/>
          </a:xfrm>
          <a:prstGeom prst="rect">
            <a:avLst/>
          </a:prstGeom>
          <a:noFill/>
          <a:ln>
            <a:noFill/>
          </a:ln>
        </p:spPr>
      </p:pic>
      <p:sp>
        <p:nvSpPr>
          <p:cNvPr id="185" name="Google Shape;185;p14"/>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chemeClr val="lt1"/>
                </a:solidFill>
              </a:rPr>
              <a:t>11</a:t>
            </a:r>
            <a:endParaRPr b="1" sz="13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5"/>
          <p:cNvSpPr/>
          <p:nvPr/>
        </p:nvSpPr>
        <p:spPr>
          <a:xfrm>
            <a:off x="661475" y="642838"/>
            <a:ext cx="6363731" cy="50204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3150"/>
              <a:buFont typeface="Arial"/>
              <a:buNone/>
            </a:pPr>
            <a:r>
              <a:rPr b="1" i="0" lang="en-US" sz="3150" u="none" cap="none" strike="noStrike">
                <a:solidFill>
                  <a:srgbClr val="006747"/>
                </a:solidFill>
                <a:latin typeface="Arial"/>
                <a:ea typeface="Arial"/>
                <a:cs typeface="Arial"/>
                <a:sym typeface="Arial"/>
              </a:rPr>
              <a:t>Comparaison des approches</a:t>
            </a:r>
            <a:endParaRPr b="0" i="0" sz="3150" u="none" cap="none" strike="noStrike">
              <a:solidFill>
                <a:schemeClr val="dk1"/>
              </a:solidFill>
              <a:latin typeface="Calibri"/>
              <a:ea typeface="Calibri"/>
              <a:cs typeface="Calibri"/>
              <a:sym typeface="Calibri"/>
            </a:endParaRPr>
          </a:p>
        </p:txBody>
      </p:sp>
      <p:sp>
        <p:nvSpPr>
          <p:cNvPr id="192" name="Google Shape;192;p15"/>
          <p:cNvSpPr/>
          <p:nvPr/>
        </p:nvSpPr>
        <p:spPr>
          <a:xfrm>
            <a:off x="661475" y="1417935"/>
            <a:ext cx="11478330" cy="23772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550" u="none" cap="none" strike="noStrike">
                <a:solidFill>
                  <a:srgbClr val="4B4A4A"/>
                </a:solidFill>
                <a:latin typeface="Geist"/>
                <a:ea typeface="Geist"/>
                <a:cs typeface="Geist"/>
                <a:sym typeface="Geist"/>
              </a:rPr>
              <a:t>Synthèse des performances sur le jeu de test (20 images équilibrées).</a:t>
            </a:r>
            <a:endParaRPr b="0" i="0" sz="1550" u="none" cap="none" strike="noStrike">
              <a:solidFill>
                <a:schemeClr val="dk1"/>
              </a:solidFill>
              <a:latin typeface="Calibri"/>
              <a:ea typeface="Calibri"/>
              <a:cs typeface="Calibri"/>
              <a:sym typeface="Calibri"/>
            </a:endParaRPr>
          </a:p>
        </p:txBody>
      </p:sp>
      <p:sp>
        <p:nvSpPr>
          <p:cNvPr id="193" name="Google Shape;193;p15"/>
          <p:cNvSpPr/>
          <p:nvPr/>
        </p:nvSpPr>
        <p:spPr>
          <a:xfrm>
            <a:off x="661475" y="1809250"/>
            <a:ext cx="10868700" cy="3045000"/>
          </a:xfrm>
          <a:prstGeom prst="roundRect">
            <a:avLst>
              <a:gd fmla="val 4385" name="adj"/>
            </a:avLst>
          </a:prstGeom>
          <a:solidFill>
            <a:srgbClr val="CCFFEF"/>
          </a:solidFill>
          <a:ln cap="flat" cmpd="sng" w="76200">
            <a:solidFill>
              <a:srgbClr val="434343">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828952" y="1903809"/>
            <a:ext cx="2094753" cy="23772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Approche</a:t>
            </a:r>
            <a:endParaRPr b="0" i="0" sz="1250" u="none" cap="none" strike="noStrike">
              <a:solidFill>
                <a:schemeClr val="dk1"/>
              </a:solidFill>
              <a:latin typeface="Calibri"/>
              <a:ea typeface="Calibri"/>
              <a:cs typeface="Calibri"/>
              <a:sym typeface="Calibri"/>
            </a:endParaRPr>
          </a:p>
        </p:txBody>
      </p:sp>
      <p:sp>
        <p:nvSpPr>
          <p:cNvPr id="195" name="Google Shape;195;p15"/>
          <p:cNvSpPr/>
          <p:nvPr/>
        </p:nvSpPr>
        <p:spPr>
          <a:xfrm>
            <a:off x="2641732" y="1903809"/>
            <a:ext cx="2091578" cy="23772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Acc</a:t>
            </a:r>
            <a:endParaRPr b="0" i="0" sz="1250" u="none" cap="none" strike="noStrike">
              <a:solidFill>
                <a:schemeClr val="dk1"/>
              </a:solidFill>
              <a:latin typeface="Calibri"/>
              <a:ea typeface="Calibri"/>
              <a:cs typeface="Calibri"/>
              <a:sym typeface="Calibri"/>
            </a:endParaRPr>
          </a:p>
        </p:txBody>
      </p:sp>
      <p:sp>
        <p:nvSpPr>
          <p:cNvPr id="196" name="Google Shape;196;p15"/>
          <p:cNvSpPr/>
          <p:nvPr/>
        </p:nvSpPr>
        <p:spPr>
          <a:xfrm>
            <a:off x="3881780" y="1903800"/>
            <a:ext cx="8490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F1-macro</a:t>
            </a:r>
            <a:endParaRPr b="0" i="0" sz="1250" u="none" cap="none" strike="noStrike">
              <a:solidFill>
                <a:schemeClr val="dk1"/>
              </a:solidFill>
              <a:latin typeface="Calibri"/>
              <a:ea typeface="Calibri"/>
              <a:cs typeface="Calibri"/>
              <a:sym typeface="Calibri"/>
            </a:endParaRPr>
          </a:p>
        </p:txBody>
      </p:sp>
      <p:sp>
        <p:nvSpPr>
          <p:cNvPr id="197" name="Google Shape;197;p15"/>
          <p:cNvSpPr/>
          <p:nvPr/>
        </p:nvSpPr>
        <p:spPr>
          <a:xfrm>
            <a:off x="5110200" y="1903800"/>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AUC</a:t>
            </a:r>
            <a:endParaRPr b="0" i="0" sz="1250" u="none" cap="none" strike="noStrike">
              <a:solidFill>
                <a:schemeClr val="dk1"/>
              </a:solidFill>
              <a:latin typeface="Calibri"/>
              <a:ea typeface="Calibri"/>
              <a:cs typeface="Calibri"/>
              <a:sym typeface="Calibri"/>
            </a:endParaRPr>
          </a:p>
        </p:txBody>
      </p:sp>
      <p:sp>
        <p:nvSpPr>
          <p:cNvPr id="198" name="Google Shape;198;p15"/>
          <p:cNvSpPr/>
          <p:nvPr/>
        </p:nvSpPr>
        <p:spPr>
          <a:xfrm>
            <a:off x="8593617" y="1903800"/>
            <a:ext cx="9843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Labels forts</a:t>
            </a:r>
            <a:endParaRPr b="0" i="0" sz="1250" u="none" cap="none" strike="noStrike">
              <a:solidFill>
                <a:schemeClr val="dk1"/>
              </a:solidFill>
              <a:latin typeface="Calibri"/>
              <a:ea typeface="Calibri"/>
              <a:cs typeface="Calibri"/>
              <a:sym typeface="Calibri"/>
            </a:endParaRPr>
          </a:p>
        </p:txBody>
      </p:sp>
      <p:sp>
        <p:nvSpPr>
          <p:cNvPr id="199" name="Google Shape;199;p15"/>
          <p:cNvSpPr/>
          <p:nvPr/>
        </p:nvSpPr>
        <p:spPr>
          <a:xfrm>
            <a:off x="9880154" y="1903809"/>
            <a:ext cx="2094753" cy="23772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Images utilisées</a:t>
            </a:r>
            <a:endParaRPr b="0" i="0" sz="1250" u="none" cap="none" strike="noStrike">
              <a:solidFill>
                <a:schemeClr val="dk1"/>
              </a:solidFill>
              <a:latin typeface="Calibri"/>
              <a:ea typeface="Calibri"/>
              <a:cs typeface="Calibri"/>
              <a:sym typeface="Calibri"/>
            </a:endParaRPr>
          </a:p>
        </p:txBody>
      </p:sp>
      <p:sp>
        <p:nvSpPr>
          <p:cNvPr id="200" name="Google Shape;200;p15"/>
          <p:cNvSpPr/>
          <p:nvPr/>
        </p:nvSpPr>
        <p:spPr>
          <a:xfrm>
            <a:off x="828952" y="2324298"/>
            <a:ext cx="1485168" cy="475456"/>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K-Means (clustering pur)</a:t>
            </a:r>
            <a:endParaRPr b="0" i="0" sz="1250" u="none" cap="none" strike="noStrike">
              <a:solidFill>
                <a:schemeClr val="dk1"/>
              </a:solidFill>
              <a:latin typeface="Calibri"/>
              <a:ea typeface="Calibri"/>
              <a:cs typeface="Calibri"/>
              <a:sym typeface="Calibri"/>
            </a:endParaRPr>
          </a:p>
        </p:txBody>
      </p:sp>
      <p:sp>
        <p:nvSpPr>
          <p:cNvPr id="201" name="Google Shape;201;p15"/>
          <p:cNvSpPr/>
          <p:nvPr/>
        </p:nvSpPr>
        <p:spPr>
          <a:xfrm>
            <a:off x="2641732" y="2324298"/>
            <a:ext cx="2091578" cy="23772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a:t>
            </a:r>
            <a:endParaRPr b="0" i="0" sz="1250" u="none" cap="none" strike="noStrike">
              <a:solidFill>
                <a:schemeClr val="dk1"/>
              </a:solidFill>
              <a:latin typeface="Calibri"/>
              <a:ea typeface="Calibri"/>
              <a:cs typeface="Calibri"/>
              <a:sym typeface="Calibri"/>
            </a:endParaRPr>
          </a:p>
        </p:txBody>
      </p:sp>
      <p:sp>
        <p:nvSpPr>
          <p:cNvPr id="202" name="Google Shape;202;p15"/>
          <p:cNvSpPr/>
          <p:nvPr/>
        </p:nvSpPr>
        <p:spPr>
          <a:xfrm>
            <a:off x="3881780" y="2324290"/>
            <a:ext cx="8490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a:t>
            </a:r>
            <a:endParaRPr b="0" i="0" sz="1250" u="none" cap="none" strike="noStrike">
              <a:solidFill>
                <a:schemeClr val="dk1"/>
              </a:solidFill>
              <a:latin typeface="Calibri"/>
              <a:ea typeface="Calibri"/>
              <a:cs typeface="Calibri"/>
              <a:sym typeface="Calibri"/>
            </a:endParaRPr>
          </a:p>
        </p:txBody>
      </p:sp>
      <p:sp>
        <p:nvSpPr>
          <p:cNvPr id="203" name="Google Shape;203;p15"/>
          <p:cNvSpPr/>
          <p:nvPr/>
        </p:nvSpPr>
        <p:spPr>
          <a:xfrm>
            <a:off x="5110200" y="2324291"/>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a:t>
            </a:r>
            <a:endParaRPr b="0" i="0" sz="1250" u="none" cap="none" strike="noStrike">
              <a:solidFill>
                <a:schemeClr val="dk1"/>
              </a:solidFill>
              <a:latin typeface="Calibri"/>
              <a:ea typeface="Calibri"/>
              <a:cs typeface="Calibri"/>
              <a:sym typeface="Calibri"/>
            </a:endParaRPr>
          </a:p>
        </p:txBody>
      </p:sp>
      <p:sp>
        <p:nvSpPr>
          <p:cNvPr id="204" name="Google Shape;204;p15"/>
          <p:cNvSpPr/>
          <p:nvPr/>
        </p:nvSpPr>
        <p:spPr>
          <a:xfrm>
            <a:off x="8593617" y="2324290"/>
            <a:ext cx="9843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0</a:t>
            </a:r>
            <a:endParaRPr b="0" i="0" sz="1250" u="none" cap="none" strike="noStrike">
              <a:solidFill>
                <a:schemeClr val="dk1"/>
              </a:solidFill>
              <a:latin typeface="Calibri"/>
              <a:ea typeface="Calibri"/>
              <a:cs typeface="Calibri"/>
              <a:sym typeface="Calibri"/>
            </a:endParaRPr>
          </a:p>
        </p:txBody>
      </p:sp>
      <p:sp>
        <p:nvSpPr>
          <p:cNvPr id="205" name="Google Shape;205;p15"/>
          <p:cNvSpPr/>
          <p:nvPr/>
        </p:nvSpPr>
        <p:spPr>
          <a:xfrm>
            <a:off x="9880154" y="2324298"/>
            <a:ext cx="1485168" cy="475456"/>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1 406 non labellisées</a:t>
            </a:r>
            <a:endParaRPr b="0" i="0" sz="1250" u="none" cap="none" strike="noStrike">
              <a:solidFill>
                <a:schemeClr val="dk1"/>
              </a:solidFill>
              <a:latin typeface="Calibri"/>
              <a:ea typeface="Calibri"/>
              <a:cs typeface="Calibri"/>
              <a:sym typeface="Calibri"/>
            </a:endParaRPr>
          </a:p>
        </p:txBody>
      </p:sp>
      <p:sp>
        <p:nvSpPr>
          <p:cNvPr id="206" name="Google Shape;206;p15"/>
          <p:cNvSpPr/>
          <p:nvPr/>
        </p:nvSpPr>
        <p:spPr>
          <a:xfrm>
            <a:off x="828952" y="2982516"/>
            <a:ext cx="1485168" cy="475456"/>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Modèle A (weak labels)</a:t>
            </a:r>
            <a:endParaRPr b="0" i="0" sz="1250" u="none" cap="none" strike="noStrike">
              <a:solidFill>
                <a:schemeClr val="dk1"/>
              </a:solidFill>
              <a:latin typeface="Calibri"/>
              <a:ea typeface="Calibri"/>
              <a:cs typeface="Calibri"/>
              <a:sym typeface="Calibri"/>
            </a:endParaRPr>
          </a:p>
        </p:txBody>
      </p:sp>
      <p:sp>
        <p:nvSpPr>
          <p:cNvPr id="207" name="Google Shape;207;p15"/>
          <p:cNvSpPr/>
          <p:nvPr/>
        </p:nvSpPr>
        <p:spPr>
          <a:xfrm>
            <a:off x="2641732" y="2982516"/>
            <a:ext cx="2091578" cy="23772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0,30</a:t>
            </a:r>
            <a:endParaRPr b="0" i="0" sz="1250" u="none" cap="none" strike="noStrike">
              <a:solidFill>
                <a:schemeClr val="dk1"/>
              </a:solidFill>
              <a:latin typeface="Calibri"/>
              <a:ea typeface="Calibri"/>
              <a:cs typeface="Calibri"/>
              <a:sym typeface="Calibri"/>
            </a:endParaRPr>
          </a:p>
        </p:txBody>
      </p:sp>
      <p:sp>
        <p:nvSpPr>
          <p:cNvPr id="208" name="Google Shape;208;p15"/>
          <p:cNvSpPr/>
          <p:nvPr/>
        </p:nvSpPr>
        <p:spPr>
          <a:xfrm>
            <a:off x="3881780" y="2982509"/>
            <a:ext cx="8490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0,20</a:t>
            </a:r>
            <a:endParaRPr b="0" i="0" sz="1250" u="none" cap="none" strike="noStrike">
              <a:solidFill>
                <a:schemeClr val="dk1"/>
              </a:solidFill>
              <a:latin typeface="Calibri"/>
              <a:ea typeface="Calibri"/>
              <a:cs typeface="Calibri"/>
              <a:sym typeface="Calibri"/>
            </a:endParaRPr>
          </a:p>
        </p:txBody>
      </p:sp>
      <p:sp>
        <p:nvSpPr>
          <p:cNvPr id="209" name="Google Shape;209;p15"/>
          <p:cNvSpPr/>
          <p:nvPr/>
        </p:nvSpPr>
        <p:spPr>
          <a:xfrm>
            <a:off x="5110200" y="2982511"/>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0,13</a:t>
            </a:r>
            <a:endParaRPr b="0" i="0" sz="1250" u="none" cap="none" strike="noStrike">
              <a:solidFill>
                <a:schemeClr val="dk1"/>
              </a:solidFill>
              <a:latin typeface="Calibri"/>
              <a:ea typeface="Calibri"/>
              <a:cs typeface="Calibri"/>
              <a:sym typeface="Calibri"/>
            </a:endParaRPr>
          </a:p>
        </p:txBody>
      </p:sp>
      <p:sp>
        <p:nvSpPr>
          <p:cNvPr id="210" name="Google Shape;210;p15"/>
          <p:cNvSpPr/>
          <p:nvPr/>
        </p:nvSpPr>
        <p:spPr>
          <a:xfrm>
            <a:off x="8593617" y="2982509"/>
            <a:ext cx="9843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0</a:t>
            </a:r>
            <a:endParaRPr b="0" i="0" sz="1250" u="none" cap="none" strike="noStrike">
              <a:solidFill>
                <a:schemeClr val="dk1"/>
              </a:solidFill>
              <a:latin typeface="Calibri"/>
              <a:ea typeface="Calibri"/>
              <a:cs typeface="Calibri"/>
              <a:sym typeface="Calibri"/>
            </a:endParaRPr>
          </a:p>
        </p:txBody>
      </p:sp>
      <p:sp>
        <p:nvSpPr>
          <p:cNvPr id="211" name="Google Shape;211;p15"/>
          <p:cNvSpPr/>
          <p:nvPr/>
        </p:nvSpPr>
        <p:spPr>
          <a:xfrm>
            <a:off x="9880154" y="2982516"/>
            <a:ext cx="1485168" cy="475456"/>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1 406 pseudo-labels</a:t>
            </a:r>
            <a:endParaRPr b="0" i="0" sz="1250" u="none" cap="none" strike="noStrike">
              <a:solidFill>
                <a:schemeClr val="dk1"/>
              </a:solidFill>
              <a:latin typeface="Calibri"/>
              <a:ea typeface="Calibri"/>
              <a:cs typeface="Calibri"/>
              <a:sym typeface="Calibri"/>
            </a:endParaRPr>
          </a:p>
        </p:txBody>
      </p:sp>
      <p:sp>
        <p:nvSpPr>
          <p:cNvPr id="212" name="Google Shape;212;p15"/>
          <p:cNvSpPr/>
          <p:nvPr/>
        </p:nvSpPr>
        <p:spPr>
          <a:xfrm>
            <a:off x="828952" y="3640733"/>
            <a:ext cx="1485168" cy="475456"/>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Modèle B (fine-tuning)</a:t>
            </a:r>
            <a:endParaRPr b="0" i="0" sz="1250" u="none" cap="none" strike="noStrike">
              <a:solidFill>
                <a:schemeClr val="dk1"/>
              </a:solidFill>
              <a:latin typeface="Calibri"/>
              <a:ea typeface="Calibri"/>
              <a:cs typeface="Calibri"/>
              <a:sym typeface="Calibri"/>
            </a:endParaRPr>
          </a:p>
        </p:txBody>
      </p:sp>
      <p:sp>
        <p:nvSpPr>
          <p:cNvPr id="213" name="Google Shape;213;p15"/>
          <p:cNvSpPr/>
          <p:nvPr/>
        </p:nvSpPr>
        <p:spPr>
          <a:xfrm>
            <a:off x="2641732" y="3640733"/>
            <a:ext cx="2091578" cy="23772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0,95</a:t>
            </a:r>
            <a:endParaRPr b="0" i="0" sz="1250" u="none" cap="none" strike="noStrike">
              <a:solidFill>
                <a:schemeClr val="dk1"/>
              </a:solidFill>
              <a:latin typeface="Calibri"/>
              <a:ea typeface="Calibri"/>
              <a:cs typeface="Calibri"/>
              <a:sym typeface="Calibri"/>
            </a:endParaRPr>
          </a:p>
        </p:txBody>
      </p:sp>
      <p:sp>
        <p:nvSpPr>
          <p:cNvPr id="214" name="Google Shape;214;p15"/>
          <p:cNvSpPr/>
          <p:nvPr/>
        </p:nvSpPr>
        <p:spPr>
          <a:xfrm>
            <a:off x="3881780" y="3640728"/>
            <a:ext cx="8490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0,95</a:t>
            </a:r>
            <a:endParaRPr b="0" i="0" sz="1250" u="none" cap="none" strike="noStrike">
              <a:solidFill>
                <a:schemeClr val="dk1"/>
              </a:solidFill>
              <a:latin typeface="Calibri"/>
              <a:ea typeface="Calibri"/>
              <a:cs typeface="Calibri"/>
              <a:sym typeface="Calibri"/>
            </a:endParaRPr>
          </a:p>
        </p:txBody>
      </p:sp>
      <p:sp>
        <p:nvSpPr>
          <p:cNvPr id="215" name="Google Shape;215;p15"/>
          <p:cNvSpPr/>
          <p:nvPr/>
        </p:nvSpPr>
        <p:spPr>
          <a:xfrm>
            <a:off x="5110200" y="3640730"/>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1,00</a:t>
            </a:r>
            <a:endParaRPr b="0" i="0" sz="1250" u="none" cap="none" strike="noStrike">
              <a:solidFill>
                <a:schemeClr val="dk1"/>
              </a:solidFill>
              <a:latin typeface="Calibri"/>
              <a:ea typeface="Calibri"/>
              <a:cs typeface="Calibri"/>
              <a:sym typeface="Calibri"/>
            </a:endParaRPr>
          </a:p>
        </p:txBody>
      </p:sp>
      <p:sp>
        <p:nvSpPr>
          <p:cNvPr id="216" name="Google Shape;216;p15"/>
          <p:cNvSpPr/>
          <p:nvPr/>
        </p:nvSpPr>
        <p:spPr>
          <a:xfrm>
            <a:off x="8593617" y="3640728"/>
            <a:ext cx="9843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80</a:t>
            </a:r>
            <a:endParaRPr b="0" i="0" sz="1250" u="none" cap="none" strike="noStrike">
              <a:solidFill>
                <a:schemeClr val="dk1"/>
              </a:solidFill>
              <a:latin typeface="Calibri"/>
              <a:ea typeface="Calibri"/>
              <a:cs typeface="Calibri"/>
              <a:sym typeface="Calibri"/>
            </a:endParaRPr>
          </a:p>
        </p:txBody>
      </p:sp>
      <p:sp>
        <p:nvSpPr>
          <p:cNvPr id="217" name="Google Shape;217;p15"/>
          <p:cNvSpPr/>
          <p:nvPr/>
        </p:nvSpPr>
        <p:spPr>
          <a:xfrm>
            <a:off x="9880154" y="3640733"/>
            <a:ext cx="1485168" cy="475456"/>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1 406 weak + 80 forts</a:t>
            </a:r>
            <a:endParaRPr b="0" i="0" sz="1250" u="none" cap="none" strike="noStrike">
              <a:solidFill>
                <a:schemeClr val="dk1"/>
              </a:solidFill>
              <a:latin typeface="Calibri"/>
              <a:ea typeface="Calibri"/>
              <a:cs typeface="Calibri"/>
              <a:sym typeface="Calibri"/>
            </a:endParaRPr>
          </a:p>
        </p:txBody>
      </p:sp>
      <p:sp>
        <p:nvSpPr>
          <p:cNvPr id="218" name="Google Shape;218;p15"/>
          <p:cNvSpPr/>
          <p:nvPr/>
        </p:nvSpPr>
        <p:spPr>
          <a:xfrm>
            <a:off x="828952" y="4298950"/>
            <a:ext cx="1485168" cy="71318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i="0" lang="en-US" sz="1250" u="none" cap="none" strike="noStrike">
                <a:solidFill>
                  <a:srgbClr val="4B4A4A"/>
                </a:solidFill>
                <a:latin typeface="Geist"/>
                <a:ea typeface="Geist"/>
                <a:cs typeface="Geist"/>
                <a:sym typeface="Geist"/>
              </a:rPr>
              <a:t>Pseudo-labellisation (itératif)</a:t>
            </a:r>
            <a:endParaRPr i="0" sz="1250" u="none" cap="none" strike="noStrike">
              <a:solidFill>
                <a:schemeClr val="dk1"/>
              </a:solidFill>
              <a:latin typeface="Calibri"/>
              <a:ea typeface="Calibri"/>
              <a:cs typeface="Calibri"/>
              <a:sym typeface="Calibri"/>
            </a:endParaRPr>
          </a:p>
        </p:txBody>
      </p:sp>
      <p:sp>
        <p:nvSpPr>
          <p:cNvPr id="219" name="Google Shape;219;p15"/>
          <p:cNvSpPr/>
          <p:nvPr/>
        </p:nvSpPr>
        <p:spPr>
          <a:xfrm>
            <a:off x="2641732" y="4298950"/>
            <a:ext cx="2091578" cy="23772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i="0" lang="en-US" sz="1250" u="none" cap="none" strike="noStrike">
                <a:solidFill>
                  <a:srgbClr val="4B4A4A"/>
                </a:solidFill>
                <a:latin typeface="Geist"/>
                <a:ea typeface="Geist"/>
                <a:cs typeface="Geist"/>
                <a:sym typeface="Geist"/>
              </a:rPr>
              <a:t>0,88</a:t>
            </a:r>
            <a:endParaRPr i="0" sz="1250" u="none" cap="none" strike="noStrike">
              <a:solidFill>
                <a:schemeClr val="dk1"/>
              </a:solidFill>
              <a:latin typeface="Calibri"/>
              <a:ea typeface="Calibri"/>
              <a:cs typeface="Calibri"/>
              <a:sym typeface="Calibri"/>
            </a:endParaRPr>
          </a:p>
        </p:txBody>
      </p:sp>
      <p:sp>
        <p:nvSpPr>
          <p:cNvPr id="220" name="Google Shape;220;p15"/>
          <p:cNvSpPr/>
          <p:nvPr/>
        </p:nvSpPr>
        <p:spPr>
          <a:xfrm>
            <a:off x="3881780" y="4298946"/>
            <a:ext cx="8490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i="0" lang="en-US" sz="1250" u="none" cap="none" strike="noStrike">
                <a:solidFill>
                  <a:srgbClr val="4B4A4A"/>
                </a:solidFill>
                <a:latin typeface="Geist"/>
                <a:ea typeface="Geist"/>
                <a:cs typeface="Geist"/>
                <a:sym typeface="Geist"/>
              </a:rPr>
              <a:t>0,88</a:t>
            </a:r>
            <a:endParaRPr i="0" sz="1250" u="none" cap="none" strike="noStrike">
              <a:solidFill>
                <a:schemeClr val="dk1"/>
              </a:solidFill>
              <a:latin typeface="Calibri"/>
              <a:ea typeface="Calibri"/>
              <a:cs typeface="Calibri"/>
              <a:sym typeface="Calibri"/>
            </a:endParaRPr>
          </a:p>
        </p:txBody>
      </p:sp>
      <p:sp>
        <p:nvSpPr>
          <p:cNvPr id="221" name="Google Shape;221;p15"/>
          <p:cNvSpPr/>
          <p:nvPr/>
        </p:nvSpPr>
        <p:spPr>
          <a:xfrm>
            <a:off x="5110200" y="4298950"/>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i="0" lang="en-US" sz="1250" u="none" cap="none" strike="noStrike">
                <a:solidFill>
                  <a:srgbClr val="4B4A4A"/>
                </a:solidFill>
                <a:latin typeface="Geist"/>
                <a:ea typeface="Geist"/>
                <a:cs typeface="Geist"/>
                <a:sym typeface="Geist"/>
              </a:rPr>
              <a:t>0,87</a:t>
            </a:r>
            <a:endParaRPr i="0" sz="1250" u="none" cap="none" strike="noStrike">
              <a:solidFill>
                <a:schemeClr val="dk1"/>
              </a:solidFill>
              <a:latin typeface="Calibri"/>
              <a:ea typeface="Calibri"/>
              <a:cs typeface="Calibri"/>
              <a:sym typeface="Calibri"/>
            </a:endParaRPr>
          </a:p>
        </p:txBody>
      </p:sp>
      <p:sp>
        <p:nvSpPr>
          <p:cNvPr id="222" name="Google Shape;222;p15"/>
          <p:cNvSpPr/>
          <p:nvPr/>
        </p:nvSpPr>
        <p:spPr>
          <a:xfrm>
            <a:off x="8593617" y="4298946"/>
            <a:ext cx="9843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50</a:t>
            </a:r>
            <a:endParaRPr b="0" i="0" sz="1250" u="none" cap="none" strike="noStrike">
              <a:solidFill>
                <a:schemeClr val="dk1"/>
              </a:solidFill>
              <a:latin typeface="Calibri"/>
              <a:ea typeface="Calibri"/>
              <a:cs typeface="Calibri"/>
              <a:sym typeface="Calibri"/>
            </a:endParaRPr>
          </a:p>
        </p:txBody>
      </p:sp>
      <p:sp>
        <p:nvSpPr>
          <p:cNvPr id="223" name="Google Shape;223;p15"/>
          <p:cNvSpPr/>
          <p:nvPr/>
        </p:nvSpPr>
        <p:spPr>
          <a:xfrm>
            <a:off x="9880154" y="4298950"/>
            <a:ext cx="1485168" cy="475456"/>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50 forts + 1 406 pseudo</a:t>
            </a:r>
            <a:endParaRPr b="0" i="0" sz="1250" u="none" cap="none" strike="noStrike">
              <a:solidFill>
                <a:schemeClr val="dk1"/>
              </a:solidFill>
              <a:latin typeface="Calibri"/>
              <a:ea typeface="Calibri"/>
              <a:cs typeface="Calibri"/>
              <a:sym typeface="Calibri"/>
            </a:endParaRPr>
          </a:p>
        </p:txBody>
      </p:sp>
      <p:sp>
        <p:nvSpPr>
          <p:cNvPr id="224" name="Google Shape;224;p15"/>
          <p:cNvSpPr/>
          <p:nvPr/>
        </p:nvSpPr>
        <p:spPr>
          <a:xfrm>
            <a:off x="4475125" y="5060325"/>
            <a:ext cx="3288300" cy="1458300"/>
          </a:xfrm>
          <a:prstGeom prst="roundRect">
            <a:avLst>
              <a:gd fmla="val 18046" name="adj"/>
            </a:avLst>
          </a:prstGeom>
          <a:solidFill>
            <a:srgbClr val="B6FC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5"/>
          <p:cNvSpPr/>
          <p:nvPr/>
        </p:nvSpPr>
        <p:spPr>
          <a:xfrm>
            <a:off x="4642900" y="5228925"/>
            <a:ext cx="3120600" cy="10920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000000"/>
              </a:buClr>
              <a:buSzPts val="1250"/>
              <a:buFont typeface="Geist"/>
              <a:buNone/>
            </a:pPr>
            <a:r>
              <a:rPr b="1" lang="en-US" sz="1350">
                <a:latin typeface="Geist"/>
                <a:ea typeface="Geist"/>
                <a:cs typeface="Geist"/>
                <a:sym typeface="Geist"/>
              </a:rPr>
              <a:t>Pseudo-labellisation — Meilleur compromis</a:t>
            </a:r>
            <a:endParaRPr b="1" sz="1350">
              <a:latin typeface="Geist"/>
              <a:ea typeface="Geist"/>
              <a:cs typeface="Geist"/>
              <a:sym typeface="Geist"/>
            </a:endParaRPr>
          </a:p>
          <a:p>
            <a:pPr indent="0" lvl="0" marL="0" marR="0" rtl="0" algn="l">
              <a:lnSpc>
                <a:spcPct val="123000"/>
              </a:lnSpc>
              <a:spcBef>
                <a:spcPts val="0"/>
              </a:spcBef>
              <a:spcAft>
                <a:spcPts val="0"/>
              </a:spcAft>
              <a:buClr>
                <a:srgbClr val="000000"/>
              </a:buClr>
              <a:buSzPts val="1250"/>
              <a:buFont typeface="Geist"/>
              <a:buNone/>
            </a:pPr>
            <a:r>
              <a:rPr lang="en-US" sz="1350">
                <a:latin typeface="Geist"/>
                <a:ea typeface="Geist"/>
                <a:cs typeface="Geist"/>
                <a:sym typeface="Geist"/>
              </a:rPr>
              <a:t>C'est le meilleur compromis annotation/performance pour un déploiement en conditions réelles</a:t>
            </a:r>
            <a:endParaRPr b="0" i="0" sz="1350" u="none" cap="none" strike="noStrike">
              <a:solidFill>
                <a:schemeClr val="dk1"/>
              </a:solidFill>
              <a:latin typeface="Calibri"/>
              <a:ea typeface="Calibri"/>
              <a:cs typeface="Calibri"/>
              <a:sym typeface="Calibri"/>
            </a:endParaRPr>
          </a:p>
        </p:txBody>
      </p:sp>
      <p:sp>
        <p:nvSpPr>
          <p:cNvPr id="226" name="Google Shape;226;p15"/>
          <p:cNvSpPr/>
          <p:nvPr/>
        </p:nvSpPr>
        <p:spPr>
          <a:xfrm>
            <a:off x="6250617" y="1905092"/>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lang="en-US" sz="1250">
                <a:solidFill>
                  <a:srgbClr val="4B4A4A"/>
                </a:solidFill>
                <a:latin typeface="Geist"/>
                <a:ea typeface="Geist"/>
                <a:cs typeface="Geist"/>
                <a:sym typeface="Geist"/>
              </a:rPr>
              <a:t>Rappel</a:t>
            </a:r>
            <a:endParaRPr b="0" i="0" sz="1250" u="none" cap="none" strike="noStrike">
              <a:solidFill>
                <a:schemeClr val="dk1"/>
              </a:solidFill>
              <a:latin typeface="Calibri"/>
              <a:ea typeface="Calibri"/>
              <a:cs typeface="Calibri"/>
              <a:sym typeface="Calibri"/>
            </a:endParaRPr>
          </a:p>
        </p:txBody>
      </p:sp>
      <p:sp>
        <p:nvSpPr>
          <p:cNvPr id="227" name="Google Shape;227;p15"/>
          <p:cNvSpPr/>
          <p:nvPr/>
        </p:nvSpPr>
        <p:spPr>
          <a:xfrm>
            <a:off x="6250617" y="2325582"/>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a:t>
            </a:r>
            <a:endParaRPr b="0" i="0" sz="1250" u="none" cap="none" strike="noStrike">
              <a:solidFill>
                <a:schemeClr val="dk1"/>
              </a:solidFill>
              <a:latin typeface="Calibri"/>
              <a:ea typeface="Calibri"/>
              <a:cs typeface="Calibri"/>
              <a:sym typeface="Calibri"/>
            </a:endParaRPr>
          </a:p>
        </p:txBody>
      </p:sp>
      <p:sp>
        <p:nvSpPr>
          <p:cNvPr id="228" name="Google Shape;228;p15"/>
          <p:cNvSpPr/>
          <p:nvPr/>
        </p:nvSpPr>
        <p:spPr>
          <a:xfrm>
            <a:off x="6250617" y="2983802"/>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0,</a:t>
            </a:r>
            <a:r>
              <a:rPr lang="en-US" sz="1250">
                <a:solidFill>
                  <a:srgbClr val="4B4A4A"/>
                </a:solidFill>
                <a:latin typeface="Geist"/>
                <a:ea typeface="Geist"/>
                <a:cs typeface="Geist"/>
                <a:sym typeface="Geist"/>
              </a:rPr>
              <a:t>60</a:t>
            </a:r>
            <a:endParaRPr b="0" i="0" sz="1250" u="none" cap="none" strike="noStrike">
              <a:solidFill>
                <a:schemeClr val="dk1"/>
              </a:solidFill>
              <a:latin typeface="Calibri"/>
              <a:ea typeface="Calibri"/>
              <a:cs typeface="Calibri"/>
              <a:sym typeface="Calibri"/>
            </a:endParaRPr>
          </a:p>
        </p:txBody>
      </p:sp>
      <p:sp>
        <p:nvSpPr>
          <p:cNvPr id="229" name="Google Shape;229;p15"/>
          <p:cNvSpPr/>
          <p:nvPr/>
        </p:nvSpPr>
        <p:spPr>
          <a:xfrm>
            <a:off x="6250617" y="3642022"/>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1,00</a:t>
            </a:r>
            <a:endParaRPr b="0" i="0" sz="1250" u="none" cap="none" strike="noStrike">
              <a:solidFill>
                <a:schemeClr val="dk1"/>
              </a:solidFill>
              <a:latin typeface="Calibri"/>
              <a:ea typeface="Calibri"/>
              <a:cs typeface="Calibri"/>
              <a:sym typeface="Calibri"/>
            </a:endParaRPr>
          </a:p>
        </p:txBody>
      </p:sp>
      <p:sp>
        <p:nvSpPr>
          <p:cNvPr id="230" name="Google Shape;230;p15"/>
          <p:cNvSpPr/>
          <p:nvPr/>
        </p:nvSpPr>
        <p:spPr>
          <a:xfrm>
            <a:off x="6250617" y="4300241"/>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i="0" lang="en-US" sz="1250" u="none" cap="none" strike="noStrike">
                <a:solidFill>
                  <a:srgbClr val="4B4A4A"/>
                </a:solidFill>
                <a:latin typeface="Geist"/>
                <a:ea typeface="Geist"/>
                <a:cs typeface="Geist"/>
                <a:sym typeface="Geist"/>
              </a:rPr>
              <a:t>0,8</a:t>
            </a:r>
            <a:r>
              <a:rPr lang="en-US" sz="1250">
                <a:solidFill>
                  <a:srgbClr val="4B4A4A"/>
                </a:solidFill>
                <a:latin typeface="Geist"/>
                <a:ea typeface="Geist"/>
                <a:cs typeface="Geist"/>
                <a:sym typeface="Geist"/>
              </a:rPr>
              <a:t>4</a:t>
            </a:r>
            <a:endParaRPr i="0" sz="1250" u="none" cap="none" strike="noStrike">
              <a:solidFill>
                <a:schemeClr val="dk1"/>
              </a:solidFill>
              <a:latin typeface="Calibri"/>
              <a:ea typeface="Calibri"/>
              <a:cs typeface="Calibri"/>
              <a:sym typeface="Calibri"/>
            </a:endParaRPr>
          </a:p>
        </p:txBody>
      </p:sp>
      <p:sp>
        <p:nvSpPr>
          <p:cNvPr id="231" name="Google Shape;231;p15"/>
          <p:cNvSpPr/>
          <p:nvPr/>
        </p:nvSpPr>
        <p:spPr>
          <a:xfrm>
            <a:off x="7332915" y="1906383"/>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lang="en-US" sz="1250">
                <a:solidFill>
                  <a:srgbClr val="4B4A4A"/>
                </a:solidFill>
                <a:latin typeface="Geist"/>
                <a:ea typeface="Geist"/>
                <a:cs typeface="Geist"/>
                <a:sym typeface="Geist"/>
              </a:rPr>
              <a:t>Prec</a:t>
            </a:r>
            <a:endParaRPr b="0" i="0" sz="1250" u="none" cap="none" strike="noStrike">
              <a:solidFill>
                <a:schemeClr val="dk1"/>
              </a:solidFill>
              <a:latin typeface="Calibri"/>
              <a:ea typeface="Calibri"/>
              <a:cs typeface="Calibri"/>
              <a:sym typeface="Calibri"/>
            </a:endParaRPr>
          </a:p>
        </p:txBody>
      </p:sp>
      <p:sp>
        <p:nvSpPr>
          <p:cNvPr id="232" name="Google Shape;232;p15"/>
          <p:cNvSpPr/>
          <p:nvPr/>
        </p:nvSpPr>
        <p:spPr>
          <a:xfrm>
            <a:off x="7332915" y="2326874"/>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a:t>
            </a:r>
            <a:endParaRPr b="0" i="0" sz="1250" u="none" cap="none" strike="noStrike">
              <a:solidFill>
                <a:schemeClr val="dk1"/>
              </a:solidFill>
              <a:latin typeface="Calibri"/>
              <a:ea typeface="Calibri"/>
              <a:cs typeface="Calibri"/>
              <a:sym typeface="Calibri"/>
            </a:endParaRPr>
          </a:p>
        </p:txBody>
      </p:sp>
      <p:sp>
        <p:nvSpPr>
          <p:cNvPr id="233" name="Google Shape;233;p15"/>
          <p:cNvSpPr/>
          <p:nvPr/>
        </p:nvSpPr>
        <p:spPr>
          <a:xfrm>
            <a:off x="7332915" y="2985094"/>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0" i="0" lang="en-US" sz="1250" u="none" cap="none" strike="noStrike">
                <a:solidFill>
                  <a:srgbClr val="4B4A4A"/>
                </a:solidFill>
                <a:latin typeface="Geist"/>
                <a:ea typeface="Geist"/>
                <a:cs typeface="Geist"/>
                <a:sym typeface="Geist"/>
              </a:rPr>
              <a:t>0,</a:t>
            </a:r>
            <a:r>
              <a:rPr lang="en-US" sz="1250">
                <a:solidFill>
                  <a:srgbClr val="4B4A4A"/>
                </a:solidFill>
                <a:latin typeface="Geist"/>
                <a:ea typeface="Geist"/>
                <a:cs typeface="Geist"/>
                <a:sym typeface="Geist"/>
              </a:rPr>
              <a:t>37</a:t>
            </a:r>
            <a:endParaRPr b="0" i="0" sz="1250" u="none" cap="none" strike="noStrike">
              <a:solidFill>
                <a:schemeClr val="dk1"/>
              </a:solidFill>
              <a:latin typeface="Calibri"/>
              <a:ea typeface="Calibri"/>
              <a:cs typeface="Calibri"/>
              <a:sym typeface="Calibri"/>
            </a:endParaRPr>
          </a:p>
        </p:txBody>
      </p:sp>
      <p:sp>
        <p:nvSpPr>
          <p:cNvPr id="234" name="Google Shape;234;p15"/>
          <p:cNvSpPr/>
          <p:nvPr/>
        </p:nvSpPr>
        <p:spPr>
          <a:xfrm>
            <a:off x="7332915" y="3643313"/>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b="1" i="0" lang="en-US" sz="1250" u="none" cap="none" strike="noStrike">
                <a:solidFill>
                  <a:srgbClr val="4B4A4A"/>
                </a:solidFill>
                <a:latin typeface="Geist"/>
                <a:ea typeface="Geist"/>
                <a:cs typeface="Geist"/>
                <a:sym typeface="Geist"/>
              </a:rPr>
              <a:t>1,00</a:t>
            </a:r>
            <a:endParaRPr b="0" i="0" sz="1250" u="none" cap="none" strike="noStrike">
              <a:solidFill>
                <a:schemeClr val="dk1"/>
              </a:solidFill>
              <a:latin typeface="Calibri"/>
              <a:ea typeface="Calibri"/>
              <a:cs typeface="Calibri"/>
              <a:sym typeface="Calibri"/>
            </a:endParaRPr>
          </a:p>
        </p:txBody>
      </p:sp>
      <p:sp>
        <p:nvSpPr>
          <p:cNvPr id="235" name="Google Shape;235;p15"/>
          <p:cNvSpPr/>
          <p:nvPr/>
        </p:nvSpPr>
        <p:spPr>
          <a:xfrm>
            <a:off x="7332915" y="4301533"/>
            <a:ext cx="608700" cy="2376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1250"/>
              <a:buFont typeface="Geist"/>
              <a:buNone/>
            </a:pPr>
            <a:r>
              <a:rPr i="0" lang="en-US" sz="1250" u="none" cap="none" strike="noStrike">
                <a:solidFill>
                  <a:srgbClr val="4B4A4A"/>
                </a:solidFill>
                <a:latin typeface="Geist"/>
                <a:ea typeface="Geist"/>
                <a:cs typeface="Geist"/>
                <a:sym typeface="Geist"/>
              </a:rPr>
              <a:t>0,</a:t>
            </a:r>
            <a:r>
              <a:rPr lang="en-US" sz="1250">
                <a:solidFill>
                  <a:srgbClr val="4B4A4A"/>
                </a:solidFill>
                <a:latin typeface="Geist"/>
                <a:ea typeface="Geist"/>
                <a:cs typeface="Geist"/>
                <a:sym typeface="Geist"/>
              </a:rPr>
              <a:t>91</a:t>
            </a:r>
            <a:endParaRPr i="0" sz="1250" u="none" cap="none" strike="noStrike">
              <a:solidFill>
                <a:schemeClr val="dk1"/>
              </a:solidFill>
              <a:latin typeface="Calibri"/>
              <a:ea typeface="Calibri"/>
              <a:cs typeface="Calibri"/>
              <a:sym typeface="Calibri"/>
            </a:endParaRPr>
          </a:p>
        </p:txBody>
      </p:sp>
      <p:sp>
        <p:nvSpPr>
          <p:cNvPr id="236" name="Google Shape;236;p15"/>
          <p:cNvSpPr/>
          <p:nvPr/>
        </p:nvSpPr>
        <p:spPr>
          <a:xfrm>
            <a:off x="661475" y="5057900"/>
            <a:ext cx="3581100" cy="1458300"/>
          </a:xfrm>
          <a:prstGeom prst="roundRect">
            <a:avLst>
              <a:gd fmla="val 18046" name="adj"/>
            </a:avLst>
          </a:prstGeom>
          <a:solidFill>
            <a:srgbClr val="B6FC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826617" y="5226500"/>
            <a:ext cx="3230400" cy="10920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000000"/>
              </a:buClr>
              <a:buSzPts val="1250"/>
              <a:buFont typeface="Geist"/>
              <a:buNone/>
            </a:pPr>
            <a:r>
              <a:rPr b="1" lang="en-US" sz="1350">
                <a:latin typeface="Geist"/>
                <a:ea typeface="Geist"/>
                <a:cs typeface="Geist"/>
                <a:sym typeface="Geist"/>
              </a:rPr>
              <a:t>Modèle B – Performance maximale</a:t>
            </a:r>
            <a:endParaRPr b="1" sz="1350">
              <a:latin typeface="Geist"/>
              <a:ea typeface="Geist"/>
              <a:cs typeface="Geist"/>
              <a:sym typeface="Geist"/>
            </a:endParaRPr>
          </a:p>
          <a:p>
            <a:pPr indent="0" lvl="0" marL="0" marR="0" rtl="0" algn="l">
              <a:lnSpc>
                <a:spcPct val="123000"/>
              </a:lnSpc>
              <a:spcBef>
                <a:spcPts val="0"/>
              </a:spcBef>
              <a:spcAft>
                <a:spcPts val="0"/>
              </a:spcAft>
              <a:buClr>
                <a:srgbClr val="000000"/>
              </a:buClr>
              <a:buSzPts val="1250"/>
              <a:buFont typeface="Geist"/>
              <a:buNone/>
            </a:pPr>
            <a:r>
              <a:rPr lang="en-US" sz="1350">
                <a:latin typeface="Geist"/>
                <a:ea typeface="Geist"/>
                <a:cs typeface="Geist"/>
                <a:sym typeface="Geist"/>
              </a:rPr>
              <a:t>80 images annotées pour le fine-tuning. Il représente la solution optimale lorsque le budget d'annotation le permet</a:t>
            </a:r>
            <a:endParaRPr b="0" i="0" sz="1350" u="none" cap="none" strike="noStrike">
              <a:solidFill>
                <a:schemeClr val="dk1"/>
              </a:solidFill>
              <a:latin typeface="Calibri"/>
              <a:ea typeface="Calibri"/>
              <a:cs typeface="Calibri"/>
              <a:sym typeface="Calibri"/>
            </a:endParaRPr>
          </a:p>
        </p:txBody>
      </p:sp>
      <p:sp>
        <p:nvSpPr>
          <p:cNvPr id="238" name="Google Shape;238;p15"/>
          <p:cNvSpPr/>
          <p:nvPr/>
        </p:nvSpPr>
        <p:spPr>
          <a:xfrm>
            <a:off x="8008961" y="5060325"/>
            <a:ext cx="3581100" cy="1458300"/>
          </a:xfrm>
          <a:prstGeom prst="roundRect">
            <a:avLst>
              <a:gd fmla="val 18046" name="adj"/>
            </a:avLst>
          </a:prstGeom>
          <a:solidFill>
            <a:srgbClr val="B6FC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8174102" y="5228925"/>
            <a:ext cx="3230400" cy="10920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000000"/>
              </a:buClr>
              <a:buSzPts val="1250"/>
              <a:buFont typeface="Geist"/>
              <a:buNone/>
            </a:pPr>
            <a:r>
              <a:rPr b="1" lang="en-US" sz="1350">
                <a:latin typeface="Geist"/>
                <a:ea typeface="Geist"/>
                <a:cs typeface="Geist"/>
                <a:sym typeface="Geist"/>
              </a:rPr>
              <a:t>Warm smart - indispensable</a:t>
            </a:r>
            <a:endParaRPr b="1" sz="1350">
              <a:latin typeface="Geist"/>
              <a:ea typeface="Geist"/>
              <a:cs typeface="Geist"/>
              <a:sym typeface="Geist"/>
            </a:endParaRPr>
          </a:p>
          <a:p>
            <a:pPr indent="0" lvl="0" marL="0" marR="0" rtl="0" algn="l">
              <a:lnSpc>
                <a:spcPct val="123000"/>
              </a:lnSpc>
              <a:spcBef>
                <a:spcPts val="0"/>
              </a:spcBef>
              <a:spcAft>
                <a:spcPts val="0"/>
              </a:spcAft>
              <a:buClr>
                <a:srgbClr val="000000"/>
              </a:buClr>
              <a:buSzPts val="1250"/>
              <a:buFont typeface="Geist"/>
              <a:buNone/>
            </a:pPr>
            <a:r>
              <a:rPr lang="en-US" sz="1350">
                <a:latin typeface="Geist"/>
                <a:ea typeface="Geist"/>
                <a:cs typeface="Geist"/>
                <a:sym typeface="Geist"/>
              </a:rPr>
              <a:t>il structure l'espace des features avant le fine-tuning, </a:t>
            </a:r>
            <a:r>
              <a:rPr lang="en-US" sz="1350">
                <a:latin typeface="Geist"/>
                <a:ea typeface="Geist"/>
                <a:cs typeface="Geist"/>
                <a:sym typeface="Geist"/>
              </a:rPr>
              <a:t>améliorant</a:t>
            </a:r>
            <a:r>
              <a:rPr lang="en-US" sz="1350">
                <a:latin typeface="Geist"/>
                <a:ea typeface="Geist"/>
                <a:cs typeface="Geist"/>
                <a:sym typeface="Geist"/>
              </a:rPr>
              <a:t> significativement la convergence</a:t>
            </a:r>
            <a:endParaRPr b="0" i="0" sz="1350" u="none" cap="none" strike="noStrike">
              <a:solidFill>
                <a:schemeClr val="dk1"/>
              </a:solidFill>
              <a:latin typeface="Calibri"/>
              <a:ea typeface="Calibri"/>
              <a:cs typeface="Calibri"/>
              <a:sym typeface="Calibri"/>
            </a:endParaRPr>
          </a:p>
        </p:txBody>
      </p:sp>
      <p:sp>
        <p:nvSpPr>
          <p:cNvPr id="240" name="Google Shape;240;p15"/>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chemeClr val="lt1"/>
                </a:solidFill>
              </a:rPr>
              <a:t>12</a:t>
            </a:r>
            <a:endParaRPr b="1" sz="13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6"/>
          <p:cNvSpPr/>
          <p:nvPr/>
        </p:nvSpPr>
        <p:spPr>
          <a:xfrm>
            <a:off x="661475" y="1027708"/>
            <a:ext cx="8749783" cy="5906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3700"/>
              <a:buFont typeface="Arial"/>
              <a:buNone/>
            </a:pPr>
            <a:r>
              <a:rPr b="1" i="0" lang="en-US" sz="3700" u="none" cap="none" strike="noStrike">
                <a:solidFill>
                  <a:srgbClr val="006747"/>
                </a:solidFill>
                <a:latin typeface="Arial"/>
                <a:ea typeface="Arial"/>
                <a:cs typeface="Arial"/>
                <a:sym typeface="Arial"/>
              </a:rPr>
              <a:t>Recommandations &amp; Perspectives</a:t>
            </a:r>
            <a:endParaRPr b="0" i="0" sz="3700" u="none" cap="none" strike="noStrike">
              <a:solidFill>
                <a:schemeClr val="dk1"/>
              </a:solidFill>
              <a:latin typeface="Calibri"/>
              <a:ea typeface="Calibri"/>
              <a:cs typeface="Calibri"/>
              <a:sym typeface="Calibri"/>
            </a:endParaRPr>
          </a:p>
        </p:txBody>
      </p:sp>
      <p:pic>
        <p:nvPicPr>
          <p:cNvPr descr="Businessman racing against time, Grayscale (fourni par Getty Images)" id="247" name="Google Shape;247;p16"/>
          <p:cNvPicPr preferRelativeResize="0"/>
          <p:nvPr/>
        </p:nvPicPr>
        <p:blipFill rotWithShape="1">
          <a:blip r:embed="rId3">
            <a:alphaModFix/>
          </a:blip>
          <a:srcRect b="8089" l="0" r="0" t="8089"/>
          <a:stretch/>
        </p:blipFill>
        <p:spPr>
          <a:xfrm>
            <a:off x="661475" y="1996380"/>
            <a:ext cx="2009923" cy="1242220"/>
          </a:xfrm>
          <a:prstGeom prst="rect">
            <a:avLst/>
          </a:prstGeom>
          <a:noFill/>
          <a:ln>
            <a:noFill/>
          </a:ln>
        </p:spPr>
      </p:pic>
      <p:sp>
        <p:nvSpPr>
          <p:cNvPr id="248" name="Google Shape;248;p16"/>
          <p:cNvSpPr/>
          <p:nvPr/>
        </p:nvSpPr>
        <p:spPr>
          <a:xfrm>
            <a:off x="661475" y="3474839"/>
            <a:ext cx="2362637" cy="29527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850"/>
              <a:buFont typeface="Arial"/>
              <a:buNone/>
            </a:pPr>
            <a:r>
              <a:rPr b="1" i="0" lang="en-US" sz="1850" u="none" cap="none" strike="noStrike">
                <a:solidFill>
                  <a:srgbClr val="4B4A4A"/>
                </a:solidFill>
                <a:latin typeface="Arial"/>
                <a:ea typeface="Arial"/>
                <a:cs typeface="Arial"/>
                <a:sym typeface="Arial"/>
              </a:rPr>
              <a:t>Court terme</a:t>
            </a:r>
            <a:endParaRPr b="0" i="0" sz="1850" u="none" cap="none" strike="noStrike">
              <a:solidFill>
                <a:schemeClr val="dk1"/>
              </a:solidFill>
              <a:latin typeface="Calibri"/>
              <a:ea typeface="Calibri"/>
              <a:cs typeface="Calibri"/>
              <a:sym typeface="Calibri"/>
            </a:endParaRPr>
          </a:p>
        </p:txBody>
      </p:sp>
      <p:sp>
        <p:nvSpPr>
          <p:cNvPr id="249" name="Google Shape;249;p16"/>
          <p:cNvSpPr/>
          <p:nvPr/>
        </p:nvSpPr>
        <p:spPr>
          <a:xfrm>
            <a:off x="661475" y="3883524"/>
            <a:ext cx="3465300" cy="1242300"/>
          </a:xfrm>
          <a:prstGeom prst="rect">
            <a:avLst/>
          </a:prstGeom>
          <a:noFill/>
          <a:ln>
            <a:noFill/>
          </a:ln>
        </p:spPr>
        <p:txBody>
          <a:bodyPr anchorCtr="0" anchor="t" bIns="0" lIns="0" spcFirstLastPara="1" rIns="0" wrap="square" tIns="0">
            <a:noAutofit/>
          </a:bodyPr>
          <a:lstStyle/>
          <a:p>
            <a:pPr indent="-294640" lvl="0" marL="294640" marR="0" rtl="0" algn="l">
              <a:lnSpc>
                <a:spcPct val="133000"/>
              </a:lnSpc>
              <a:spcBef>
                <a:spcPts val="0"/>
              </a:spcBef>
              <a:spcAft>
                <a:spcPts val="0"/>
              </a:spcAft>
              <a:buClr>
                <a:srgbClr val="4B4A4A"/>
              </a:buClr>
              <a:buSzPts val="1450"/>
              <a:buFont typeface="Geist"/>
              <a:buChar char="•"/>
            </a:pPr>
            <a:r>
              <a:rPr b="0" i="0" lang="en-US" sz="1450" u="none" cap="none" strike="noStrike">
                <a:solidFill>
                  <a:srgbClr val="4B4A4A"/>
                </a:solidFill>
                <a:latin typeface="Geist"/>
                <a:ea typeface="Geist"/>
                <a:cs typeface="Geist"/>
                <a:sym typeface="Geist"/>
              </a:rPr>
              <a:t>Augmentation de données : flip, rotation, contraste</a:t>
            </a:r>
            <a:endParaRPr b="0" i="0" sz="1450" u="none" cap="none" strike="noStrike">
              <a:solidFill>
                <a:schemeClr val="dk1"/>
              </a:solidFill>
              <a:latin typeface="Calibri"/>
              <a:ea typeface="Calibri"/>
              <a:cs typeface="Calibri"/>
              <a:sym typeface="Calibri"/>
            </a:endParaRPr>
          </a:p>
          <a:p>
            <a:pPr indent="-294640" lvl="0" marL="294640" marR="0" rtl="0" algn="l">
              <a:lnSpc>
                <a:spcPct val="133000"/>
              </a:lnSpc>
              <a:spcBef>
                <a:spcPts val="0"/>
              </a:spcBef>
              <a:spcAft>
                <a:spcPts val="0"/>
              </a:spcAft>
              <a:buClr>
                <a:srgbClr val="4B4A4A"/>
              </a:buClr>
              <a:buSzPts val="1450"/>
              <a:buFont typeface="Geist"/>
              <a:buChar char="•"/>
            </a:pPr>
            <a:r>
              <a:rPr b="0" i="0" lang="en-US" sz="1450" u="none" cap="none" strike="noStrike">
                <a:solidFill>
                  <a:srgbClr val="4B4A4A"/>
                </a:solidFill>
                <a:latin typeface="Geist"/>
                <a:ea typeface="Geist"/>
                <a:cs typeface="Geist"/>
                <a:sym typeface="Geist"/>
              </a:rPr>
              <a:t>Annoter en priorité les 47 images ambiguës (confiance &lt; 0,95)</a:t>
            </a:r>
            <a:endParaRPr b="0" i="0" sz="1450" u="none" cap="none" strike="noStrike">
              <a:solidFill>
                <a:schemeClr val="dk1"/>
              </a:solidFill>
              <a:latin typeface="Calibri"/>
              <a:ea typeface="Calibri"/>
              <a:cs typeface="Calibri"/>
              <a:sym typeface="Calibri"/>
            </a:endParaRPr>
          </a:p>
        </p:txBody>
      </p:sp>
      <p:sp>
        <p:nvSpPr>
          <p:cNvPr id="250" name="Google Shape;250;p16"/>
          <p:cNvSpPr/>
          <p:nvPr/>
        </p:nvSpPr>
        <p:spPr>
          <a:xfrm>
            <a:off x="4363135" y="3474839"/>
            <a:ext cx="2362637" cy="29527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850"/>
              <a:buFont typeface="Arial"/>
              <a:buNone/>
            </a:pPr>
            <a:r>
              <a:rPr b="1" i="0" lang="en-US" sz="1850" u="none" cap="none" strike="noStrike">
                <a:solidFill>
                  <a:srgbClr val="4B4A4A"/>
                </a:solidFill>
                <a:latin typeface="Arial"/>
                <a:ea typeface="Arial"/>
                <a:cs typeface="Arial"/>
                <a:sym typeface="Arial"/>
              </a:rPr>
              <a:t>Moyen terme</a:t>
            </a:r>
            <a:endParaRPr b="0" i="0" sz="1850" u="none" cap="none" strike="noStrike">
              <a:solidFill>
                <a:schemeClr val="dk1"/>
              </a:solidFill>
              <a:latin typeface="Calibri"/>
              <a:ea typeface="Calibri"/>
              <a:cs typeface="Calibri"/>
              <a:sym typeface="Calibri"/>
            </a:endParaRPr>
          </a:p>
        </p:txBody>
      </p:sp>
      <p:sp>
        <p:nvSpPr>
          <p:cNvPr id="251" name="Google Shape;251;p16"/>
          <p:cNvSpPr/>
          <p:nvPr/>
        </p:nvSpPr>
        <p:spPr>
          <a:xfrm>
            <a:off x="4363125" y="3883524"/>
            <a:ext cx="3465300" cy="1242300"/>
          </a:xfrm>
          <a:prstGeom prst="rect">
            <a:avLst/>
          </a:prstGeom>
          <a:noFill/>
          <a:ln>
            <a:noFill/>
          </a:ln>
        </p:spPr>
        <p:txBody>
          <a:bodyPr anchorCtr="0" anchor="t" bIns="0" lIns="0" spcFirstLastPara="1" rIns="0" wrap="square" tIns="0">
            <a:noAutofit/>
          </a:bodyPr>
          <a:lstStyle/>
          <a:p>
            <a:pPr indent="-294640" lvl="0" marL="294640" marR="0" rtl="0" algn="l">
              <a:lnSpc>
                <a:spcPct val="133000"/>
              </a:lnSpc>
              <a:spcBef>
                <a:spcPts val="0"/>
              </a:spcBef>
              <a:spcAft>
                <a:spcPts val="0"/>
              </a:spcAft>
              <a:buClr>
                <a:srgbClr val="4B4A4A"/>
              </a:buClr>
              <a:buSzPts val="1450"/>
              <a:buFont typeface="Geist"/>
              <a:buChar char="•"/>
            </a:pPr>
            <a:r>
              <a:rPr b="0" i="0" lang="en-US" sz="1450" u="none" cap="none" strike="noStrike">
                <a:solidFill>
                  <a:srgbClr val="4B4A4A"/>
                </a:solidFill>
                <a:latin typeface="Geist"/>
                <a:ea typeface="Geist"/>
                <a:cs typeface="Geist"/>
                <a:sym typeface="Geist"/>
              </a:rPr>
              <a:t>Tester EfficientNet-B4, ViT-B/16 (RadImageNet)</a:t>
            </a:r>
            <a:endParaRPr b="0" i="0" sz="1450" u="none" cap="none" strike="noStrike">
              <a:solidFill>
                <a:schemeClr val="dk1"/>
              </a:solidFill>
              <a:latin typeface="Calibri"/>
              <a:ea typeface="Calibri"/>
              <a:cs typeface="Calibri"/>
              <a:sym typeface="Calibri"/>
            </a:endParaRPr>
          </a:p>
          <a:p>
            <a:pPr indent="-294640" lvl="0" marL="294640" marR="0" rtl="0" algn="l">
              <a:lnSpc>
                <a:spcPct val="133000"/>
              </a:lnSpc>
              <a:spcBef>
                <a:spcPts val="0"/>
              </a:spcBef>
              <a:spcAft>
                <a:spcPts val="0"/>
              </a:spcAft>
              <a:buClr>
                <a:srgbClr val="4B4A4A"/>
              </a:buClr>
              <a:buSzPts val="1450"/>
              <a:buFont typeface="Geist"/>
              <a:buChar char="•"/>
            </a:pPr>
            <a:r>
              <a:rPr b="0" i="0" lang="en-US" sz="1450" u="none" cap="none" strike="noStrike">
                <a:solidFill>
                  <a:srgbClr val="4B4A4A"/>
                </a:solidFill>
                <a:latin typeface="Geist"/>
                <a:ea typeface="Geist"/>
                <a:cs typeface="Geist"/>
                <a:sym typeface="Geist"/>
              </a:rPr>
              <a:t>Valider sur un jeu externe (autre hôpital)</a:t>
            </a:r>
            <a:endParaRPr b="0" i="0" sz="1450" u="none" cap="none" strike="noStrike">
              <a:solidFill>
                <a:schemeClr val="dk1"/>
              </a:solidFill>
              <a:latin typeface="Calibri"/>
              <a:ea typeface="Calibri"/>
              <a:cs typeface="Calibri"/>
              <a:sym typeface="Calibri"/>
            </a:endParaRPr>
          </a:p>
        </p:txBody>
      </p:sp>
      <p:sp>
        <p:nvSpPr>
          <p:cNvPr id="252" name="Google Shape;252;p16"/>
          <p:cNvSpPr/>
          <p:nvPr/>
        </p:nvSpPr>
        <p:spPr>
          <a:xfrm>
            <a:off x="8064794" y="3474839"/>
            <a:ext cx="2362637" cy="29527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850"/>
              <a:buFont typeface="Arial"/>
              <a:buNone/>
            </a:pPr>
            <a:r>
              <a:rPr b="1" i="0" lang="en-US" sz="1850" u="none" cap="none" strike="noStrike">
                <a:solidFill>
                  <a:srgbClr val="4B4A4A"/>
                </a:solidFill>
                <a:latin typeface="Arial"/>
                <a:ea typeface="Arial"/>
                <a:cs typeface="Arial"/>
                <a:sym typeface="Arial"/>
              </a:rPr>
              <a:t>Long terme</a:t>
            </a:r>
            <a:endParaRPr b="0" i="0" sz="1850" u="none" cap="none" strike="noStrike">
              <a:solidFill>
                <a:schemeClr val="dk1"/>
              </a:solidFill>
              <a:latin typeface="Calibri"/>
              <a:ea typeface="Calibri"/>
              <a:cs typeface="Calibri"/>
              <a:sym typeface="Calibri"/>
            </a:endParaRPr>
          </a:p>
        </p:txBody>
      </p:sp>
      <p:sp>
        <p:nvSpPr>
          <p:cNvPr id="253" name="Google Shape;253;p16"/>
          <p:cNvSpPr/>
          <p:nvPr/>
        </p:nvSpPr>
        <p:spPr>
          <a:xfrm>
            <a:off x="8064800" y="3883524"/>
            <a:ext cx="3465300" cy="1312200"/>
          </a:xfrm>
          <a:prstGeom prst="rect">
            <a:avLst/>
          </a:prstGeom>
          <a:noFill/>
          <a:ln>
            <a:noFill/>
          </a:ln>
        </p:spPr>
        <p:txBody>
          <a:bodyPr anchorCtr="0" anchor="t" bIns="0" lIns="0" spcFirstLastPara="1" rIns="0" wrap="square" tIns="0">
            <a:noAutofit/>
          </a:bodyPr>
          <a:lstStyle/>
          <a:p>
            <a:pPr indent="-294640" lvl="0" marL="294640" marR="0" rtl="0" algn="l">
              <a:lnSpc>
                <a:spcPct val="133000"/>
              </a:lnSpc>
              <a:spcBef>
                <a:spcPts val="0"/>
              </a:spcBef>
              <a:spcAft>
                <a:spcPts val="0"/>
              </a:spcAft>
              <a:buClr>
                <a:srgbClr val="4B4A4A"/>
              </a:buClr>
              <a:buSzPts val="1450"/>
              <a:buFont typeface="Geist"/>
              <a:buChar char="•"/>
            </a:pPr>
            <a:r>
              <a:rPr b="0" i="0" lang="en-US" sz="1450" u="none" cap="none" strike="noStrike">
                <a:solidFill>
                  <a:srgbClr val="4B4A4A"/>
                </a:solidFill>
                <a:latin typeface="Geist"/>
                <a:ea typeface="Geist"/>
                <a:cs typeface="Geist"/>
                <a:sym typeface="Geist"/>
              </a:rPr>
              <a:t>Pipeline de ré-entraînement continu au fil des annotations</a:t>
            </a:r>
            <a:endParaRPr b="0" i="0" sz="1450" u="none" cap="none" strike="noStrike">
              <a:solidFill>
                <a:schemeClr val="dk1"/>
              </a:solidFill>
              <a:latin typeface="Calibri"/>
              <a:ea typeface="Calibri"/>
              <a:cs typeface="Calibri"/>
              <a:sym typeface="Calibri"/>
            </a:endParaRPr>
          </a:p>
        </p:txBody>
      </p:sp>
      <p:sp>
        <p:nvSpPr>
          <p:cNvPr id="254" name="Google Shape;254;p16"/>
          <p:cNvSpPr/>
          <p:nvPr/>
        </p:nvSpPr>
        <p:spPr>
          <a:xfrm>
            <a:off x="661475" y="5260273"/>
            <a:ext cx="10868700" cy="1109400"/>
          </a:xfrm>
          <a:prstGeom prst="roundRect">
            <a:avLst>
              <a:gd fmla="val 18046" name="adj"/>
            </a:avLst>
          </a:prstGeom>
          <a:solidFill>
            <a:srgbClr val="B6FC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5" name="Google Shape;255;p16"/>
          <p:cNvPicPr preferRelativeResize="0"/>
          <p:nvPr/>
        </p:nvPicPr>
        <p:blipFill rotWithShape="1">
          <a:blip r:embed="rId4">
            <a:alphaModFix/>
          </a:blip>
          <a:srcRect b="0" l="0" r="0" t="0"/>
          <a:stretch/>
        </p:blipFill>
        <p:spPr>
          <a:xfrm>
            <a:off x="822106" y="5479157"/>
            <a:ext cx="200814" cy="160635"/>
          </a:xfrm>
          <a:prstGeom prst="rect">
            <a:avLst/>
          </a:prstGeom>
          <a:noFill/>
          <a:ln>
            <a:noFill/>
          </a:ln>
        </p:spPr>
      </p:pic>
      <p:sp>
        <p:nvSpPr>
          <p:cNvPr id="256" name="Google Shape;256;p16"/>
          <p:cNvSpPr/>
          <p:nvPr/>
        </p:nvSpPr>
        <p:spPr>
          <a:xfrm>
            <a:off x="1183550" y="5423201"/>
            <a:ext cx="10185900" cy="7722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1100"/>
              <a:buFont typeface="Arial"/>
              <a:buNone/>
            </a:pPr>
            <a:r>
              <a:rPr lang="en-US" sz="1600">
                <a:solidFill>
                  <a:schemeClr val="dk1"/>
                </a:solidFill>
                <a:latin typeface="Geist"/>
                <a:ea typeface="Geist"/>
                <a:cs typeface="Geist"/>
                <a:sym typeface="Geist"/>
              </a:rPr>
              <a:t>BrainScanAI démontre qu'il est possible d'atteindre des performances quasi-parfaites (AUC=1,00) avec seulement 80 images annotées sur 1 506, grâce à une combinaison judicieuse de transfer learning, clustering et pseudo-labellisation itératif.</a:t>
            </a:r>
            <a:endParaRPr sz="1600">
              <a:solidFill>
                <a:schemeClr val="dk1"/>
              </a:solidFill>
              <a:latin typeface="Geist"/>
              <a:ea typeface="Geist"/>
              <a:cs typeface="Geist"/>
              <a:sym typeface="Geist"/>
            </a:endParaRPr>
          </a:p>
          <a:p>
            <a:pPr indent="0" lvl="0" marL="0" marR="0" rtl="0" algn="l">
              <a:lnSpc>
                <a:spcPct val="123000"/>
              </a:lnSpc>
              <a:spcBef>
                <a:spcPts val="0"/>
              </a:spcBef>
              <a:spcAft>
                <a:spcPts val="0"/>
              </a:spcAft>
              <a:buClr>
                <a:srgbClr val="000000"/>
              </a:buClr>
              <a:buSzPts val="1250"/>
              <a:buFont typeface="Geist"/>
              <a:buNone/>
            </a:pPr>
            <a:r>
              <a:t/>
            </a:r>
            <a:endParaRPr sz="2050">
              <a:latin typeface="Geist"/>
              <a:ea typeface="Geist"/>
              <a:cs typeface="Geist"/>
              <a:sym typeface="Geist"/>
            </a:endParaRPr>
          </a:p>
        </p:txBody>
      </p:sp>
      <p:pic>
        <p:nvPicPr>
          <p:cNvPr descr="Flat business vector concept of analysis and strategy for good and growth chart performance of profit working and time management. (fourni par Getty Images)" id="257" name="Google Shape;257;p16"/>
          <p:cNvPicPr preferRelativeResize="0"/>
          <p:nvPr/>
        </p:nvPicPr>
        <p:blipFill>
          <a:blip r:embed="rId5">
            <a:alphaModFix/>
          </a:blip>
          <a:stretch>
            <a:fillRect/>
          </a:stretch>
        </p:blipFill>
        <p:spPr>
          <a:xfrm>
            <a:off x="8064800" y="1954088"/>
            <a:ext cx="2009923" cy="1407363"/>
          </a:xfrm>
          <a:prstGeom prst="rect">
            <a:avLst/>
          </a:prstGeom>
          <a:noFill/>
          <a:ln>
            <a:noFill/>
          </a:ln>
        </p:spPr>
      </p:pic>
      <p:pic>
        <p:nvPicPr>
          <p:cNvPr descr="Translator or Translation Language Illustration. Say hello in Different Countries and Multilingual International Communication Cartoon Design (fourni par Getty Images)" id="258" name="Google Shape;258;p16"/>
          <p:cNvPicPr preferRelativeResize="0"/>
          <p:nvPr/>
        </p:nvPicPr>
        <p:blipFill>
          <a:blip r:embed="rId6">
            <a:alphaModFix/>
          </a:blip>
          <a:stretch>
            <a:fillRect/>
          </a:stretch>
        </p:blipFill>
        <p:spPr>
          <a:xfrm>
            <a:off x="4309725" y="1996375"/>
            <a:ext cx="1928264" cy="1357675"/>
          </a:xfrm>
          <a:prstGeom prst="rect">
            <a:avLst/>
          </a:prstGeom>
          <a:noFill/>
          <a:ln>
            <a:noFill/>
          </a:ln>
        </p:spPr>
      </p:pic>
      <p:sp>
        <p:nvSpPr>
          <p:cNvPr id="259" name="Google Shape;259;p16"/>
          <p:cNvSpPr/>
          <p:nvPr/>
        </p:nvSpPr>
        <p:spPr>
          <a:xfrm>
            <a:off x="11627981" y="10"/>
            <a:ext cx="563700" cy="472500"/>
          </a:xfrm>
          <a:prstGeom prst="hexagon">
            <a:avLst>
              <a:gd fmla="val 28852" name="adj"/>
              <a:gd fmla="val 115470" name="vf"/>
            </a:avLst>
          </a:prstGeom>
          <a:solidFill>
            <a:srgbClr val="0067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chemeClr val="lt1"/>
                </a:solidFill>
              </a:rPr>
              <a:t>13</a:t>
            </a:r>
            <a:endParaRPr b="1" sz="13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