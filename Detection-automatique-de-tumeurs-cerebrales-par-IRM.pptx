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1675"/>
  <p:notesSz cx="6858000" cy="12191675"/>
  <p:embeddedFontLst>
    <p:embeddedFont>
      <p:font typeface="Geist"/>
      <p:regular r:id="rId18"/>
      <p:bold r:id="rId19"/>
      <p:italic r:id="rId20"/>
      <p:boldItalic r:id="rId21"/>
    </p:embeddedFont>
    <p:embeddedFont>
      <p:font typeface="DM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Geist-italic.fntdata"/><Relationship Id="rId22" Type="http://schemas.openxmlformats.org/officeDocument/2006/relationships/font" Target="fonts/DMSans-regular.fntdata"/><Relationship Id="rId21" Type="http://schemas.openxmlformats.org/officeDocument/2006/relationships/font" Target="fonts/Geist-boldItalic.fntdata"/><Relationship Id="rId24" Type="http://schemas.openxmlformats.org/officeDocument/2006/relationships/font" Target="fonts/DMSans-italic.fntdata"/><Relationship Id="rId23" Type="http://schemas.openxmlformats.org/officeDocument/2006/relationships/font" Target="fonts/DM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schemas.openxmlformats.org/officeDocument/2006/relationships/font" Target="fonts/DMSans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font" Target="fonts/Geist-bold.fntdata"/><Relationship Id="rId18" Type="http://schemas.openxmlformats.org/officeDocument/2006/relationships/font" Target="fonts/Geist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ef576a4701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g3ef576a4701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g3ef576a4701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f576a4701_0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ef576a4701_0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ef576a4701_0_2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ef576a4701_0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g3ef576a4701_0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ef576a4701_0_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000000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F9F2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875" y="65589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2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Relationship Id="rId4" Type="http://schemas.openxmlformats.org/officeDocument/2006/relationships/image" Target="../media/image29.png"/><Relationship Id="rId5" Type="http://schemas.openxmlformats.org/officeDocument/2006/relationships/image" Target="../media/image2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jpg"/><Relationship Id="rId4" Type="http://schemas.openxmlformats.org/officeDocument/2006/relationships/image" Target="../media/image28.png"/><Relationship Id="rId5" Type="http://schemas.openxmlformats.org/officeDocument/2006/relationships/image" Target="../media/image20.jpg"/><Relationship Id="rId6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" name="Google Shape;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80048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/>
          <p:nvPr/>
        </p:nvSpPr>
        <p:spPr>
          <a:xfrm>
            <a:off x="5233360" y="963513"/>
            <a:ext cx="5261141" cy="581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650"/>
              <a:buFont typeface="Arial"/>
              <a:buNone/>
            </a:pPr>
            <a:r>
              <a:rPr b="1" i="0" lang="en-US" sz="36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BrainScanAI</a:t>
            </a:r>
            <a:endParaRPr b="0" i="0" sz="3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5233360" y="1819672"/>
            <a:ext cx="6296860" cy="3209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5050"/>
              <a:buFont typeface="Arial"/>
              <a:buNone/>
            </a:pPr>
            <a:r>
              <a:rPr b="1" i="0" lang="en-US" sz="50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Détection automatique de tumeurs cérébrales par IRM</a:t>
            </a:r>
            <a:endParaRPr b="0" i="0" sz="5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5233360" y="5303937"/>
            <a:ext cx="629686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Apprentissage semi-supervisé avec ResNet50 · </a:t>
            </a: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CurelyticsIA</a:t>
            </a: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 txBox="1"/>
          <p:nvPr/>
        </p:nvSpPr>
        <p:spPr>
          <a:xfrm>
            <a:off x="3947025" y="6005375"/>
            <a:ext cx="7905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https://github.com/sobaiss/analysez-des-images-medicales-avec-des-methodes-semi-supervisees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/>
          <p:nvPr/>
        </p:nvSpPr>
        <p:spPr>
          <a:xfrm>
            <a:off x="614975" y="728475"/>
            <a:ext cx="71382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2950"/>
              <a:buFont typeface="Arial"/>
              <a:buNone/>
            </a:pPr>
            <a:r>
              <a:rPr b="1" i="0" lang="en-US" sz="35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Contexte &amp; Données disponibles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661475" y="1432800"/>
            <a:ext cx="6545100" cy="21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CurelyticsIA — startup innovante dans le domaine de la e-santé en partenariat hospitalier — vise à </a:t>
            </a:r>
            <a:r>
              <a:rPr b="1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automatiser la détection de tumeurs cérébrales sur IRM</a:t>
            </a: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pour assister les radiologues. Contrainte majeure : seulement </a:t>
            </a:r>
            <a:r>
              <a:rPr b="1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100 images sur 1 506 sont annotées</a:t>
            </a: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(6,6 %), en raison du coût et du temps d'annotation élevés. L'objectif est d'exploiter les 1 406 images non labellisées via l'apprentissage semi-supervisé.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5"/>
          <p:cNvSpPr/>
          <p:nvPr/>
        </p:nvSpPr>
        <p:spPr>
          <a:xfrm>
            <a:off x="512456" y="3463724"/>
            <a:ext cx="2817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1506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875929" y="4102420"/>
            <a:ext cx="18903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Images IRM totales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4185738" y="3463724"/>
            <a:ext cx="2817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4373457" y="4129085"/>
            <a:ext cx="24420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Images étiquetées (6,6 %)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3833522" y="4437854"/>
            <a:ext cx="35220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0" i="0" lang="en-US" sz="11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50 cancer + 50 normal — équilibré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2614785" y="5065474"/>
            <a:ext cx="2817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1406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2766090" y="5730835"/>
            <a:ext cx="25149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Images sans label (93,4 %)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2262568" y="6039604"/>
            <a:ext cx="35223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0" i="0" lang="en-US" sz="11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Exploitées via apprentissage semi-supervisé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84875" y="152400"/>
            <a:ext cx="4454399" cy="6363428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5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2</a:t>
            </a:r>
            <a:endParaRPr b="1"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661475" y="528340"/>
            <a:ext cx="6371173" cy="5611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Pipeline méthodologique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661475" y="1430635"/>
            <a:ext cx="11478330" cy="2800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Quatre étapes successives transforment les données brutes en un modèle de détection fiable, malgré 93 % d'images non annotées.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9" name="Google Shape;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81050" y="1902625"/>
            <a:ext cx="8240823" cy="367485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6"/>
          <p:cNvSpPr/>
          <p:nvPr/>
        </p:nvSpPr>
        <p:spPr>
          <a:xfrm>
            <a:off x="8229224" y="4664239"/>
            <a:ext cx="1604400" cy="5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Pseudo</a:t>
            </a:r>
            <a:r>
              <a:rPr b="1" lang="en-US" sz="1800">
                <a:solidFill>
                  <a:srgbClr val="4B4A4A"/>
                </a:solidFill>
              </a:rPr>
              <a:t> </a:t>
            </a:r>
            <a:r>
              <a:rPr b="1" i="0" lang="en-US" sz="18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label</a:t>
            </a:r>
            <a:r>
              <a:rPr b="1" lang="en-US" sz="1800">
                <a:solidFill>
                  <a:srgbClr val="4B4A4A"/>
                </a:solidFill>
              </a:rPr>
              <a:t>lisation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6329425" y="4704850"/>
            <a:ext cx="1604400" cy="9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Transfer &amp;</a:t>
            </a:r>
            <a:r>
              <a:rPr b="1" lang="en-US" sz="1800">
                <a:solidFill>
                  <a:srgbClr val="4B4A4A"/>
                </a:solidFill>
              </a:rPr>
              <a:t> Apprentissage supervisé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4439955" y="4704818"/>
            <a:ext cx="1507452" cy="2903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Clustering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2509178" y="4704818"/>
            <a:ext cx="1507452" cy="2903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Extraction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661475" y="5769372"/>
            <a:ext cx="10868745" cy="5601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Le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warm start sur weak labels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structure l'espace des features avant le fine-tuning — étape clé pour atteindre des performances quasi-parfaites avec très peu d'annotations.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3</a:t>
            </a:r>
            <a:endParaRPr b="1"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661475" y="694730"/>
            <a:ext cx="10011318" cy="5316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300"/>
              <a:buFont typeface="Arial"/>
              <a:buNone/>
            </a:pPr>
            <a:r>
              <a:rPr b="1" lang="en-US" sz="3300">
                <a:solidFill>
                  <a:srgbClr val="006747"/>
                </a:solidFill>
              </a:rPr>
              <a:t>Etape 2: Prétraitement du signal visuel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/>
          <p:nvPr/>
        </p:nvSpPr>
        <p:spPr>
          <a:xfrm>
            <a:off x="5191779" y="1616900"/>
            <a:ext cx="543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Redimensionnement 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Mise à l'échelle vers 256 pixels.</a:t>
            </a:r>
            <a:endParaRPr/>
          </a:p>
        </p:txBody>
      </p:sp>
      <p:sp>
        <p:nvSpPr>
          <p:cNvPr id="63" name="Google Shape;63;p7"/>
          <p:cNvSpPr txBox="1"/>
          <p:nvPr/>
        </p:nvSpPr>
        <p:spPr>
          <a:xfrm>
            <a:off x="5191780" y="1992725"/>
            <a:ext cx="6141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Centrage 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Recadrage central à 224x224 (format standard).</a:t>
            </a:r>
            <a:endParaRPr/>
          </a:p>
        </p:txBody>
      </p:sp>
      <p:sp>
        <p:nvSpPr>
          <p:cNvPr id="64" name="Google Shape;64;p7"/>
          <p:cNvSpPr txBox="1"/>
          <p:nvPr/>
        </p:nvSpPr>
        <p:spPr>
          <a:xfrm>
            <a:off x="5191775" y="2359615"/>
            <a:ext cx="6246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Normalisation 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Alignement sur les moyennes et écarts-types d'ImageNet.</a:t>
            </a:r>
            <a:endParaRPr/>
          </a:p>
        </p:txBody>
      </p:sp>
      <p:pic>
        <p:nvPicPr>
          <p:cNvPr id="65" name="Google Shape;65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0523" y="3120200"/>
            <a:ext cx="8335300" cy="33924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4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661475" y="1500875"/>
            <a:ext cx="4418100" cy="1345800"/>
          </a:xfrm>
          <a:prstGeom prst="roundRect">
            <a:avLst>
              <a:gd fmla="val 10978" name="adj"/>
            </a:avLst>
          </a:prstGeom>
          <a:solidFill>
            <a:srgbClr val="CCF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9144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Pour assurer la compatibilité avec les architectures de Deep Learning, un pipeline de normalisation strict est appliqué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8"/>
          <p:cNvSpPr/>
          <p:nvPr/>
        </p:nvSpPr>
        <p:spPr>
          <a:xfrm>
            <a:off x="661475" y="694725"/>
            <a:ext cx="7405500" cy="5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Étape 2 — Extraction de features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8"/>
          <p:cNvSpPr/>
          <p:nvPr/>
        </p:nvSpPr>
        <p:spPr>
          <a:xfrm>
            <a:off x="661475" y="1303025"/>
            <a:ext cx="6510300" cy="6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300"/>
              <a:buFont typeface="Geist"/>
              <a:buNone/>
            </a:pPr>
            <a:r>
              <a:rPr b="0" i="0" lang="en-US" sz="16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ResNet50 pré-entraîné ImageNet (poids gelés) — hooks sur les couches intermédiaires, </a:t>
            </a:r>
            <a:r>
              <a:rPr b="1" i="0" lang="en-US" sz="16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aucun fine-tuning</a:t>
            </a:r>
            <a:r>
              <a:rPr b="0" i="0" lang="en-US" sz="16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à cette étape</a:t>
            </a:r>
            <a:r>
              <a:rPr b="0" i="0" lang="en-US" sz="16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8"/>
          <p:cNvSpPr/>
          <p:nvPr/>
        </p:nvSpPr>
        <p:spPr>
          <a:xfrm>
            <a:off x="661475" y="5456549"/>
            <a:ext cx="5673600" cy="1034400"/>
          </a:xfrm>
          <a:prstGeom prst="roundRect">
            <a:avLst>
              <a:gd fmla="val 10978" name="adj"/>
            </a:avLst>
          </a:prstGeom>
          <a:solidFill>
            <a:srgbClr val="CCF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527" y="5634626"/>
            <a:ext cx="308775" cy="24697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8"/>
          <p:cNvSpPr/>
          <p:nvPr/>
        </p:nvSpPr>
        <p:spPr>
          <a:xfrm>
            <a:off x="1214200" y="5566975"/>
            <a:ext cx="5004600" cy="10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Geist"/>
              <a:buNone/>
            </a:pPr>
            <a:r>
              <a:rPr lang="en-US">
                <a:solidFill>
                  <a:schemeClr val="dk1"/>
                </a:solidFill>
                <a:latin typeface="Geist"/>
                <a:ea typeface="Geist"/>
                <a:cs typeface="Geist"/>
                <a:sym typeface="Geist"/>
              </a:rPr>
              <a:t>La couche </a:t>
            </a:r>
            <a:r>
              <a:rPr b="1" lang="en-US">
                <a:solidFill>
                  <a:schemeClr val="dk1"/>
                </a:solidFill>
                <a:latin typeface="Geist"/>
                <a:ea typeface="Geist"/>
                <a:cs typeface="Geist"/>
                <a:sym typeface="Geist"/>
              </a:rPr>
              <a:t>avgpool</a:t>
            </a:r>
            <a:r>
              <a:rPr lang="en-US">
                <a:solidFill>
                  <a:schemeClr val="dk1"/>
                </a:solidFill>
                <a:latin typeface="Geist"/>
                <a:ea typeface="Geist"/>
                <a:cs typeface="Geist"/>
                <a:sym typeface="Geist"/>
              </a:rPr>
              <a:t> présente la plus grande variabilité de norme L2 (écart de 8,96), signe d'une expressivité sémantique supérieure adaptée à la discrimination de classes</a:t>
            </a:r>
            <a:r>
              <a:rPr lang="en-US">
                <a:solidFill>
                  <a:schemeClr val="dk1"/>
                </a:solidFill>
              </a:rPr>
              <a:t> 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8"/>
          <p:cNvPicPr preferRelativeResize="0"/>
          <p:nvPr/>
        </p:nvPicPr>
        <p:blipFill rotWithShape="1">
          <a:blip r:embed="rId4">
            <a:alphaModFix/>
          </a:blip>
          <a:srcRect b="0" l="0" r="66440" t="0"/>
          <a:stretch/>
        </p:blipFill>
        <p:spPr>
          <a:xfrm>
            <a:off x="8403964" y="659856"/>
            <a:ext cx="2973199" cy="193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8"/>
          <p:cNvPicPr preferRelativeResize="0"/>
          <p:nvPr/>
        </p:nvPicPr>
        <p:blipFill rotWithShape="1">
          <a:blip r:embed="rId4">
            <a:alphaModFix/>
          </a:blip>
          <a:srcRect b="0" l="33358" r="33083" t="0"/>
          <a:stretch/>
        </p:blipFill>
        <p:spPr>
          <a:xfrm>
            <a:off x="8403964" y="2646942"/>
            <a:ext cx="2973199" cy="1930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8"/>
          <p:cNvPicPr preferRelativeResize="0"/>
          <p:nvPr/>
        </p:nvPicPr>
        <p:blipFill rotWithShape="1">
          <a:blip r:embed="rId4">
            <a:alphaModFix/>
          </a:blip>
          <a:srcRect b="0" l="66813" r="0" t="0"/>
          <a:stretch/>
        </p:blipFill>
        <p:spPr>
          <a:xfrm>
            <a:off x="8403964" y="4634036"/>
            <a:ext cx="2973199" cy="195197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275" y="2071375"/>
            <a:ext cx="5673599" cy="3300496"/>
          </a:xfrm>
          <a:prstGeom prst="rect">
            <a:avLst/>
          </a:prstGeom>
          <a:noFill/>
          <a:ln cap="flat" cmpd="sng" w="9525">
            <a:solidFill>
              <a:srgbClr val="00674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8"/>
          <p:cNvSpPr/>
          <p:nvPr/>
        </p:nvSpPr>
        <p:spPr>
          <a:xfrm>
            <a:off x="11627981" y="130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5</a:t>
            </a:r>
            <a:endParaRPr b="1"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9"/>
          <p:cNvSpPr/>
          <p:nvPr/>
        </p:nvSpPr>
        <p:spPr>
          <a:xfrm>
            <a:off x="661475" y="694725"/>
            <a:ext cx="11055300" cy="5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300"/>
              <a:buFont typeface="Arial"/>
              <a:buNone/>
            </a:pPr>
            <a:r>
              <a:rPr b="1" lang="en-US" sz="3300">
                <a:solidFill>
                  <a:srgbClr val="006747"/>
                </a:solidFill>
              </a:rPr>
              <a:t>Etape 2: Visualisation t-SNE des features avgpool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9"/>
          <p:cNvSpPr/>
          <p:nvPr/>
        </p:nvSpPr>
        <p:spPr>
          <a:xfrm>
            <a:off x="661475" y="1303025"/>
            <a:ext cx="110553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300"/>
              <a:buFont typeface="Geist"/>
              <a:buNone/>
            </a:pP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Le 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t-SNE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projette en 2D les 2048 dimensions des features 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avgpoo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extraites par 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ResNet50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(pré-entraîné 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ImageNet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). Chaque point représente une image ; la couleur indique le statut (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rouge = cancer, vert = normal, gris clair = sans label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9"/>
          <p:cNvSpPr/>
          <p:nvPr/>
        </p:nvSpPr>
        <p:spPr>
          <a:xfrm>
            <a:off x="4967400" y="5594675"/>
            <a:ext cx="6660600" cy="909600"/>
          </a:xfrm>
          <a:prstGeom prst="roundRect">
            <a:avLst>
              <a:gd fmla="val 10978" name="adj"/>
            </a:avLst>
          </a:prstGeom>
          <a:solidFill>
            <a:srgbClr val="CCF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1" name="Google Shape;9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37446" y="5739660"/>
            <a:ext cx="212620" cy="17006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9"/>
          <p:cNvSpPr/>
          <p:nvPr/>
        </p:nvSpPr>
        <p:spPr>
          <a:xfrm>
            <a:off x="5446050" y="5669000"/>
            <a:ext cx="5868900" cy="7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Geist"/>
              <a:buNone/>
            </a:pPr>
            <a:r>
              <a:rPr lang="en-US" sz="1300">
                <a:latin typeface="Geist"/>
                <a:ea typeface="Geist"/>
                <a:cs typeface="Geist"/>
                <a:sym typeface="Geist"/>
              </a:rPr>
              <a:t>Bien que la séparation ne soit pas nette, les features ResNet50 fournissent un signal discriminant suffisant pour servir de point de départ au transfert de learning et à l'apprentissage semi-supervisé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1475" y="3894429"/>
            <a:ext cx="3647700" cy="2831186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9"/>
          <p:cNvSpPr/>
          <p:nvPr/>
        </p:nvSpPr>
        <p:spPr>
          <a:xfrm>
            <a:off x="5005800" y="3339900"/>
            <a:ext cx="6749400" cy="21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3850" lvl="0" marL="45720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500"/>
              <a:buFont typeface="Geist"/>
              <a:buChar char="●"/>
            </a:pP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Séparation partielle des classes étiquetées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: signe que les features ImageNet capturent une partie de la variabilité visuelle pertinente pour ce domaine.</a:t>
            </a:r>
            <a:endParaRPr sz="1500">
              <a:solidFill>
                <a:srgbClr val="4B4A4A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-323850" lvl="0" marL="45720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500"/>
              <a:buFont typeface="Geist"/>
              <a:buChar char="●"/>
            </a:pP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Distribution des images sans label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: les images sans label occupent le même espace de features que les images étiquetées — condition favorable au transfert de labels par clustering ou pseudo-labellisation</a:t>
            </a:r>
            <a:endParaRPr sz="1500">
              <a:solidFill>
                <a:srgbClr val="4B4A4A"/>
              </a:solidFill>
              <a:latin typeface="Geist"/>
              <a:ea typeface="Geist"/>
              <a:cs typeface="Geist"/>
              <a:sym typeface="Geist"/>
            </a:endParaRPr>
          </a:p>
        </p:txBody>
      </p:sp>
      <p:sp>
        <p:nvSpPr>
          <p:cNvPr id="95" name="Google Shape;95;p9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6</a:t>
            </a:r>
            <a:endParaRPr b="1" sz="1600">
              <a:solidFill>
                <a:schemeClr val="lt1"/>
              </a:solidFill>
            </a:endParaRPr>
          </a:p>
        </p:txBody>
      </p:sp>
      <p:pic>
        <p:nvPicPr>
          <p:cNvPr id="96" name="Google Shape;96;p9"/>
          <p:cNvPicPr preferRelativeResize="0"/>
          <p:nvPr/>
        </p:nvPicPr>
        <p:blipFill rotWithShape="1">
          <a:blip r:embed="rId5">
            <a:alphaModFix/>
          </a:blip>
          <a:srcRect b="0" l="0" r="49594" t="0"/>
          <a:stretch/>
        </p:blipFill>
        <p:spPr>
          <a:xfrm>
            <a:off x="661475" y="2022411"/>
            <a:ext cx="2926446" cy="17552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9"/>
          <p:cNvSpPr/>
          <p:nvPr/>
        </p:nvSpPr>
        <p:spPr>
          <a:xfrm>
            <a:off x="5005800" y="2246050"/>
            <a:ext cx="6622200" cy="5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300"/>
              <a:buFont typeface="Geist"/>
              <a:buNone/>
            </a:pP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Le 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scaler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et la </a:t>
            </a:r>
            <a:r>
              <a:rPr b="1"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PCA</a:t>
            </a:r>
            <a:r>
              <a:rPr lang="en-US" sz="15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(50 composants) sont entraînés uniquement sur les 1406 images non étiquetées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0"/>
          <p:cNvSpPr/>
          <p:nvPr/>
        </p:nvSpPr>
        <p:spPr>
          <a:xfrm>
            <a:off x="661475" y="658912"/>
            <a:ext cx="9476642" cy="47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2950"/>
              <a:buFont typeface="Arial"/>
              <a:buNone/>
            </a:pPr>
            <a:r>
              <a:rPr b="1" i="0" lang="en-US" sz="29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Étape 3 — Analyse non supervisée (Clustering)</a:t>
            </a:r>
            <a:endParaRPr b="0" i="0" sz="2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0"/>
          <p:cNvSpPr/>
          <p:nvPr/>
        </p:nvSpPr>
        <p:spPr>
          <a:xfrm>
            <a:off x="661475" y="1390350"/>
            <a:ext cx="10799400" cy="8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Clustering sur les 1 406 images sans label — PCA 50 composantes (46 % de variance expliquée).</a:t>
            </a:r>
            <a:endParaRPr i="0" sz="1550" u="none" cap="none" strike="noStrike">
              <a:solidFill>
                <a:srgbClr val="4B4A4A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lang="en-US" sz="16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L'objectif est de générer des </a:t>
            </a:r>
            <a:r>
              <a:rPr lang="en-US" sz="1600">
                <a:solidFill>
                  <a:srgbClr val="4B4A4A"/>
                </a:solidFill>
              </a:rPr>
              <a:t>labels faibles</a:t>
            </a:r>
            <a:r>
              <a:rPr lang="en-US" sz="160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(weak labels) qui serviront de point de départ au transfer learning, en l'absence d'annotations humaines.</a:t>
            </a:r>
            <a:r>
              <a:rPr lang="en-US" sz="1500">
                <a:solidFill>
                  <a:schemeClr val="dk1"/>
                </a:solidFill>
              </a:rPr>
              <a:t> </a:t>
            </a:r>
            <a:endParaRPr sz="1550">
              <a:solidFill>
                <a:srgbClr val="4B4A4A"/>
              </a:solidFill>
              <a:latin typeface="Geist"/>
              <a:ea typeface="Geist"/>
              <a:cs typeface="Geist"/>
              <a:sym typeface="Geist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661466" y="4958118"/>
            <a:ext cx="24999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1450"/>
              <a:buFont typeface="Arial"/>
              <a:buNone/>
            </a:pPr>
            <a:r>
              <a:rPr b="1" i="0" lang="en-US" sz="17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K-Means retenu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661475" y="5315325"/>
            <a:ext cx="4766700" cy="11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Cluster 0 : 501 images → Normal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Cluster 1 : 905 images → Cancer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ARI = </a:t>
            </a:r>
            <a:r>
              <a:rPr b="1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0,1101</a:t>
            </a: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— signal positif mais faible, clustering géométrique sans connaissance des classes.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5868186" y="5014423"/>
            <a:ext cx="24999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1450"/>
              <a:buFont typeface="Arial"/>
              <a:buNone/>
            </a:pPr>
            <a:r>
              <a:rPr b="1" i="0" lang="en-US" sz="17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DBSCAN écarté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0"/>
          <p:cNvSpPr/>
          <p:nvPr/>
        </p:nvSpPr>
        <p:spPr>
          <a:xfrm>
            <a:off x="5868175" y="5371594"/>
            <a:ext cx="5250000" cy="11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 seul cluster trouvé (1 398 images), 8 outliers. Données trop denses en espace PCA 50D — </a:t>
            </a:r>
            <a:r>
              <a:rPr b="1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non retenu</a:t>
            </a: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pour la génération de weak labels.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0"/>
          <p:cNvPicPr preferRelativeResize="0"/>
          <p:nvPr/>
        </p:nvPicPr>
        <p:blipFill rotWithShape="1">
          <a:blip r:embed="rId3">
            <a:alphaModFix/>
          </a:blip>
          <a:srcRect b="0" l="0" r="49777" t="4617"/>
          <a:stretch/>
        </p:blipFill>
        <p:spPr>
          <a:xfrm>
            <a:off x="661475" y="2389875"/>
            <a:ext cx="3371949" cy="2384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0"/>
          <p:cNvPicPr preferRelativeResize="0"/>
          <p:nvPr/>
        </p:nvPicPr>
        <p:blipFill rotWithShape="1">
          <a:blip r:embed="rId3">
            <a:alphaModFix/>
          </a:blip>
          <a:srcRect b="0" l="50008" r="0" t="5446"/>
          <a:stretch/>
        </p:blipFill>
        <p:spPr>
          <a:xfrm>
            <a:off x="5823494" y="2385123"/>
            <a:ext cx="3371949" cy="2374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0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7</a:t>
            </a:r>
            <a:endParaRPr b="1"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"/>
          <p:cNvSpPr/>
          <p:nvPr/>
        </p:nvSpPr>
        <p:spPr>
          <a:xfrm>
            <a:off x="661475" y="418450"/>
            <a:ext cx="10416000" cy="4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2950"/>
              <a:buFont typeface="Arial"/>
              <a:buNone/>
            </a:pPr>
            <a:r>
              <a:rPr b="1" i="0" lang="en-US" sz="29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Étape 3 — </a:t>
            </a:r>
            <a:r>
              <a:rPr b="1" lang="en-US" sz="2950">
                <a:solidFill>
                  <a:srgbClr val="006747"/>
                </a:solidFill>
              </a:rPr>
              <a:t>Score ARI validation des données </a:t>
            </a:r>
            <a:r>
              <a:rPr b="1" lang="en-US" sz="2950">
                <a:solidFill>
                  <a:srgbClr val="006747"/>
                </a:solidFill>
              </a:rPr>
              <a:t>labellisées</a:t>
            </a:r>
            <a:endParaRPr b="0" i="0" sz="2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1"/>
          <p:cNvSpPr/>
          <p:nvPr/>
        </p:nvSpPr>
        <p:spPr>
          <a:xfrm>
            <a:off x="661475" y="1039475"/>
            <a:ext cx="10055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Les 100 images </a:t>
            </a: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avec labels</a:t>
            </a: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sont projetées dans l'espace PCA entraîné sur les données </a:t>
            </a: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sans label</a:t>
            </a: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, puis classifiées par K-Means. Le score ARI compare ces prédictions aux vrais labels (cancer/normal)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1"/>
          <p:cNvSpPr/>
          <p:nvPr/>
        </p:nvSpPr>
        <p:spPr>
          <a:xfrm>
            <a:off x="8360260" y="4424454"/>
            <a:ext cx="2817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3900"/>
              <a:buFont typeface="Arial"/>
              <a:buNone/>
            </a:pPr>
            <a:r>
              <a:rPr b="1" lang="en-US" sz="3900">
                <a:solidFill>
                  <a:srgbClr val="4B4A4A"/>
                </a:solidFill>
              </a:rPr>
              <a:t>ARI = </a:t>
            </a:r>
            <a:r>
              <a:rPr b="1" i="0" lang="en-US" sz="390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0.11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1"/>
          <p:cNvSpPr/>
          <p:nvPr/>
        </p:nvSpPr>
        <p:spPr>
          <a:xfrm>
            <a:off x="8008050" y="5031438"/>
            <a:ext cx="35223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lang="en-US" sz="13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Un accord légèrement supérieur au hasard (ARI = 0 = aléatoire, ARI = 1 = parfait)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1"/>
          <p:cNvSpPr/>
          <p:nvPr/>
        </p:nvSpPr>
        <p:spPr>
          <a:xfrm>
            <a:off x="661475" y="5880150"/>
            <a:ext cx="6837900" cy="756900"/>
          </a:xfrm>
          <a:prstGeom prst="roundRect">
            <a:avLst>
              <a:gd fmla="val 26634" name="adj"/>
            </a:avLst>
          </a:prstGeom>
          <a:solidFill>
            <a:srgbClr val="CCF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2" name="Google Shape;12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2680" y="6082863"/>
            <a:ext cx="189007" cy="151209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1"/>
          <p:cNvSpPr/>
          <p:nvPr/>
        </p:nvSpPr>
        <p:spPr>
          <a:xfrm>
            <a:off x="970650" y="6026800"/>
            <a:ext cx="63639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Geist"/>
              <a:buNone/>
            </a:pPr>
            <a:r>
              <a:rPr lang="en-US" sz="1350">
                <a:latin typeface="Geist"/>
                <a:ea typeface="Geist"/>
                <a:cs typeface="Geist"/>
                <a:sym typeface="Geist"/>
              </a:rPr>
              <a:t>Malgré un ARI modéré, le clustering génère 1 406 labels faibles (905 cancer / 501 normal) qui constituent un signal d'entraînement exploitable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025" y="1919142"/>
            <a:ext cx="6082488" cy="3112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55626" y="1854133"/>
            <a:ext cx="2895300" cy="24179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1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8</a:t>
            </a:r>
            <a:endParaRPr b="1"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2"/>
          <p:cNvSpPr/>
          <p:nvPr/>
        </p:nvSpPr>
        <p:spPr>
          <a:xfrm>
            <a:off x="661475" y="675580"/>
            <a:ext cx="9736787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700"/>
              <a:buFont typeface="Arial"/>
              <a:buNone/>
            </a:pPr>
            <a:r>
              <a:rPr b="1" i="0" lang="en-US" sz="37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Étape 4 — </a:t>
            </a:r>
            <a:r>
              <a:rPr b="1" i="0" lang="en-US" sz="37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Transfer Learning ResNet50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2"/>
          <p:cNvSpPr/>
          <p:nvPr/>
        </p:nvSpPr>
        <p:spPr>
          <a:xfrm>
            <a:off x="661475" y="1644253"/>
            <a:ext cx="10868745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Fine-tuning des couches layer4 + FC — </a:t>
            </a: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SGD</a:t>
            </a: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lr=0.1</a:t>
            </a: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. Évaluation sur 20 images test (10 cancer + 10 normal), jamais vues à l'entraînement.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2"/>
          <p:cNvSpPr/>
          <p:nvPr/>
        </p:nvSpPr>
        <p:spPr>
          <a:xfrm>
            <a:off x="661475" y="2461716"/>
            <a:ext cx="10868745" cy="2256036"/>
          </a:xfrm>
          <a:prstGeom prst="roundRect">
            <a:avLst>
              <a:gd fmla="val 7541" name="adj"/>
            </a:avLst>
          </a:prstGeom>
          <a:solidFill>
            <a:srgbClr val="CCFFEF"/>
          </a:solidFill>
          <a:ln cap="flat" cmpd="sng" w="76200">
            <a:solidFill>
              <a:srgbClr val="000000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2"/>
          <p:cNvSpPr/>
          <p:nvPr/>
        </p:nvSpPr>
        <p:spPr>
          <a:xfrm>
            <a:off x="857129" y="2587823"/>
            <a:ext cx="2399545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2"/>
          <p:cNvSpPr/>
          <p:nvPr/>
        </p:nvSpPr>
        <p:spPr>
          <a:xfrm>
            <a:off x="3031454" y="2587823"/>
            <a:ext cx="2396371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Entraînement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2"/>
          <p:cNvSpPr/>
          <p:nvPr/>
        </p:nvSpPr>
        <p:spPr>
          <a:xfrm>
            <a:off x="5202602" y="2587824"/>
            <a:ext cx="9231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Accuracy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2"/>
          <p:cNvSpPr/>
          <p:nvPr/>
        </p:nvSpPr>
        <p:spPr>
          <a:xfrm>
            <a:off x="6385735" y="2587850"/>
            <a:ext cx="8895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F1-macro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2"/>
          <p:cNvSpPr/>
          <p:nvPr/>
        </p:nvSpPr>
        <p:spPr>
          <a:xfrm>
            <a:off x="10381811" y="2587850"/>
            <a:ext cx="5679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AUC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2"/>
          <p:cNvSpPr/>
          <p:nvPr/>
        </p:nvSpPr>
        <p:spPr>
          <a:xfrm>
            <a:off x="857129" y="3136106"/>
            <a:ext cx="2399545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 — Labels faibles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2"/>
          <p:cNvSpPr/>
          <p:nvPr/>
        </p:nvSpPr>
        <p:spPr>
          <a:xfrm>
            <a:off x="3031454" y="3136106"/>
            <a:ext cx="1786786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1 406 weak labels (10 epochs)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2"/>
          <p:cNvSpPr/>
          <p:nvPr/>
        </p:nvSpPr>
        <p:spPr>
          <a:xfrm>
            <a:off x="5202600" y="3136100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</a:t>
            </a: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25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2"/>
          <p:cNvSpPr/>
          <p:nvPr/>
        </p:nvSpPr>
        <p:spPr>
          <a:xfrm>
            <a:off x="6385735" y="3136100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0,20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2"/>
          <p:cNvSpPr/>
          <p:nvPr/>
        </p:nvSpPr>
        <p:spPr>
          <a:xfrm>
            <a:off x="10381811" y="3136100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0,13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2"/>
          <p:cNvSpPr/>
          <p:nvPr/>
        </p:nvSpPr>
        <p:spPr>
          <a:xfrm>
            <a:off x="857129" y="3986808"/>
            <a:ext cx="1789961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B — Weak → Fine-tuning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2"/>
          <p:cNvSpPr/>
          <p:nvPr/>
        </p:nvSpPr>
        <p:spPr>
          <a:xfrm>
            <a:off x="3031454" y="3986808"/>
            <a:ext cx="1786786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1 406 weak → 80 labels forts (20 ep.)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2"/>
          <p:cNvSpPr/>
          <p:nvPr/>
        </p:nvSpPr>
        <p:spPr>
          <a:xfrm>
            <a:off x="5202600" y="3986800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0,95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2"/>
          <p:cNvSpPr/>
          <p:nvPr/>
        </p:nvSpPr>
        <p:spPr>
          <a:xfrm>
            <a:off x="6385735" y="3986805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0,95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2"/>
          <p:cNvSpPr/>
          <p:nvPr/>
        </p:nvSpPr>
        <p:spPr>
          <a:xfrm>
            <a:off x="10381811" y="3986805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1,00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2"/>
          <p:cNvSpPr/>
          <p:nvPr/>
        </p:nvSpPr>
        <p:spPr>
          <a:xfrm>
            <a:off x="661475" y="4930378"/>
            <a:ext cx="10868745" cy="1039416"/>
          </a:xfrm>
          <a:prstGeom prst="roundRect">
            <a:avLst>
              <a:gd fmla="val 16367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1" name="Google Shape;15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0482" y="5198070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2"/>
          <p:cNvSpPr/>
          <p:nvPr/>
        </p:nvSpPr>
        <p:spPr>
          <a:xfrm>
            <a:off x="1275723" y="5147667"/>
            <a:ext cx="10065490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Gain Modèle B vs A : </a:t>
            </a:r>
            <a:r>
              <a:rPr b="1" i="0" lang="en-US" sz="145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+65 pts Accuracy | +75 pts F1 | AUC 0,13 → 1,00</a:t>
            </a:r>
            <a:r>
              <a:rPr b="0" i="0" lang="en-US" sz="145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 — le warm start sur</a:t>
            </a:r>
            <a:r>
              <a:rPr lang="en-US" sz="1450">
                <a:latin typeface="Geist"/>
                <a:ea typeface="Geist"/>
                <a:cs typeface="Geist"/>
                <a:sym typeface="Geist"/>
              </a:rPr>
              <a:t> </a:t>
            </a:r>
            <a:r>
              <a:rPr b="0" i="0" lang="en-US" sz="145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labels faibles + fine-tuning ciblé produit un classifieur quasi-parfait.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2"/>
          <p:cNvSpPr/>
          <p:nvPr/>
        </p:nvSpPr>
        <p:spPr>
          <a:xfrm>
            <a:off x="7537776" y="2589141"/>
            <a:ext cx="8895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Rappel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2"/>
          <p:cNvSpPr/>
          <p:nvPr/>
        </p:nvSpPr>
        <p:spPr>
          <a:xfrm>
            <a:off x="7537776" y="3137392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0,60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2"/>
          <p:cNvSpPr/>
          <p:nvPr/>
        </p:nvSpPr>
        <p:spPr>
          <a:xfrm>
            <a:off x="7537776" y="3988096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2"/>
          <p:cNvSpPr/>
          <p:nvPr/>
        </p:nvSpPr>
        <p:spPr>
          <a:xfrm>
            <a:off x="8864172" y="2590433"/>
            <a:ext cx="8895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Precision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2"/>
          <p:cNvSpPr/>
          <p:nvPr/>
        </p:nvSpPr>
        <p:spPr>
          <a:xfrm>
            <a:off x="8864173" y="3138683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</a:t>
            </a:r>
            <a:r>
              <a:rPr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37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2"/>
          <p:cNvSpPr/>
          <p:nvPr/>
        </p:nvSpPr>
        <p:spPr>
          <a:xfrm>
            <a:off x="8864173" y="3989388"/>
            <a:ext cx="6558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None/>
            </a:pPr>
            <a:r>
              <a:rPr b="1" lang="en-US" sz="14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2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</a:rPr>
              <a:t>9</a:t>
            </a:r>
            <a:endParaRPr b="1"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"/>
          <p:cNvSpPr/>
          <p:nvPr/>
        </p:nvSpPr>
        <p:spPr>
          <a:xfrm>
            <a:off x="661475" y="418450"/>
            <a:ext cx="10416000" cy="4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2950"/>
              <a:buFont typeface="Arial"/>
              <a:buNone/>
            </a:pPr>
            <a:r>
              <a:rPr b="1" i="0" lang="en-US" sz="29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Étape </a:t>
            </a:r>
            <a:r>
              <a:rPr b="1" lang="en-US" sz="2950">
                <a:solidFill>
                  <a:srgbClr val="006747"/>
                </a:solidFill>
              </a:rPr>
              <a:t>4</a:t>
            </a:r>
            <a:r>
              <a:rPr b="1" i="0" lang="en-US" sz="29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 — </a:t>
            </a:r>
            <a:r>
              <a:rPr b="1" lang="en-US" sz="2950">
                <a:solidFill>
                  <a:srgbClr val="006747"/>
                </a:solidFill>
              </a:rPr>
              <a:t>Evaluation comparative</a:t>
            </a:r>
            <a:endParaRPr b="0" i="0" sz="2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13"/>
          <p:cNvPicPr preferRelativeResize="0"/>
          <p:nvPr/>
        </p:nvPicPr>
        <p:blipFill rotWithShape="1">
          <a:blip r:embed="rId3">
            <a:alphaModFix/>
          </a:blip>
          <a:srcRect b="0" l="0" r="50067" t="0"/>
          <a:stretch/>
        </p:blipFill>
        <p:spPr>
          <a:xfrm>
            <a:off x="557975" y="3306875"/>
            <a:ext cx="3308523" cy="267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3"/>
          <p:cNvPicPr preferRelativeResize="0"/>
          <p:nvPr/>
        </p:nvPicPr>
        <p:blipFill rotWithShape="1">
          <a:blip r:embed="rId3">
            <a:alphaModFix/>
          </a:blip>
          <a:srcRect b="0" l="49935" r="0" t="0"/>
          <a:stretch/>
        </p:blipFill>
        <p:spPr>
          <a:xfrm>
            <a:off x="4300774" y="3338750"/>
            <a:ext cx="3277899" cy="26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68200" y="1019916"/>
            <a:ext cx="3922425" cy="32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3"/>
          <p:cNvSpPr/>
          <p:nvPr/>
        </p:nvSpPr>
        <p:spPr>
          <a:xfrm>
            <a:off x="661475" y="1386500"/>
            <a:ext cx="3058200" cy="17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1"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 A (Acc = 0.25)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: le modèle classifie très mal les deux classes. Cela indique que les weak labels issus du clustering K-Means (ARI ≈ 0.11) sont trop bruités pour qu'un ResNet50 apprenne une représentation discriminante sans supervision directe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3"/>
          <p:cNvSpPr/>
          <p:nvPr/>
        </p:nvSpPr>
        <p:spPr>
          <a:xfrm>
            <a:off x="4340375" y="1386500"/>
            <a:ext cx="3058200" cy="17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1"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 B (Acc = 0.95) 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: seulement 1 erreur sur 20 images de test. Le fine-tuning sur les 80 labels forts redresse complètement les prédictions, confirmant l'efficacité de la stratégie semi-supervisée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3"/>
          <p:cNvSpPr/>
          <p:nvPr/>
        </p:nvSpPr>
        <p:spPr>
          <a:xfrm>
            <a:off x="7868200" y="4384193"/>
            <a:ext cx="3922500" cy="18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1"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 A (AUC = 0.13) 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: une AUC inférieure à 0.5 signifie que le modèle prédit les classes de façon inversée par rapport à la réalité.</a:t>
            </a:r>
            <a:endParaRPr sz="1250">
              <a:solidFill>
                <a:srgbClr val="4B4A4A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150"/>
              <a:buFont typeface="Geist"/>
              <a:buNone/>
            </a:pPr>
            <a:r>
              <a:rPr b="1"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 B (AUC = 1.00)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: séparation parfaite entre cancer et normal dans l'espace des probabilités. Le modèle discrimine les deux classes sans aucun chevauchement de scores sur le jeu de test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3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lt1"/>
                </a:solidFill>
              </a:rPr>
              <a:t>10</a:t>
            </a:r>
            <a:endParaRPr b="1"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4"/>
          <p:cNvSpPr/>
          <p:nvPr/>
        </p:nvSpPr>
        <p:spPr>
          <a:xfrm>
            <a:off x="661475" y="626765"/>
            <a:ext cx="9596197" cy="5611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Étape </a:t>
            </a:r>
            <a:r>
              <a:rPr b="1" lang="en-US" sz="3500">
                <a:solidFill>
                  <a:srgbClr val="006747"/>
                </a:solidFill>
              </a:rPr>
              <a:t>4</a:t>
            </a:r>
            <a:r>
              <a:rPr b="1" i="0" lang="en-US" sz="35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 — Pseudo-labellisation itérative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4"/>
          <p:cNvSpPr/>
          <p:nvPr/>
        </p:nvSpPr>
        <p:spPr>
          <a:xfrm>
            <a:off x="661475" y="1529060"/>
            <a:ext cx="10868745" cy="5601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Principe :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entraîner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→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prédire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les images non étiquetées →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conserver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les prédictions à confiance ≥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0,95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→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recommencer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Initialisation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: </a:t>
            </a: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50 images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fortement étiquetées (25 cancer + 25 normal).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4"/>
          <p:cNvSpPr/>
          <p:nvPr/>
        </p:nvSpPr>
        <p:spPr>
          <a:xfrm>
            <a:off x="661479" y="2241653"/>
            <a:ext cx="45420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1750"/>
              <a:buFont typeface="Arial"/>
              <a:buNone/>
            </a:pPr>
            <a:r>
              <a:rPr b="1" i="0" lang="en-US" sz="15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Progression du jeu d'entraînement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4"/>
          <p:cNvSpPr/>
          <p:nvPr/>
        </p:nvSpPr>
        <p:spPr>
          <a:xfrm>
            <a:off x="545247" y="5361011"/>
            <a:ext cx="3558000" cy="129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Char char="•"/>
            </a:pP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R1 :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50 → 221 images (+171)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4480" lvl="0" marL="28448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Char char="•"/>
            </a:pP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R2 :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221 → 994 images (+773)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4480" lvl="0" marL="28448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Char char="•"/>
            </a:pP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R3 :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994 → 1 295 images (+301)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4480" lvl="0" marL="28448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Char char="•"/>
            </a:pP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R12 :</a:t>
            </a: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1 456 images finales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4"/>
          <p:cNvSpPr/>
          <p:nvPr/>
        </p:nvSpPr>
        <p:spPr>
          <a:xfrm>
            <a:off x="4671950" y="5361000"/>
            <a:ext cx="3720300" cy="129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Résultats finaux : </a:t>
            </a:r>
            <a:endParaRPr b="0" i="0" sz="1400" u="none" cap="none" strike="noStrike">
              <a:solidFill>
                <a:srgbClr val="4B4A4A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b="1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Acc = 0,88 | F1 = 0,88 | AUC = 0,87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b="0" i="0" lang="en-US" sz="140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47 images jamais labellisées — cas ambigus correctement exclus.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0999" y="2634050"/>
            <a:ext cx="3120853" cy="253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98128" y="2600287"/>
            <a:ext cx="2603229" cy="2603229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4"/>
          <p:cNvSpPr/>
          <p:nvPr/>
        </p:nvSpPr>
        <p:spPr>
          <a:xfrm>
            <a:off x="8722425" y="5361005"/>
            <a:ext cx="27546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00"/>
              <a:buFont typeface="Geist"/>
              <a:buNone/>
            </a:pPr>
            <a:r>
              <a:rPr lang="en-US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Une </a:t>
            </a:r>
            <a:r>
              <a:rPr b="1" lang="en-US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AUC de 0.87</a:t>
            </a:r>
            <a:r>
              <a:rPr lang="en-US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 traduit une bonne discrimination globale entre cancer et normal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5249" y="2627234"/>
            <a:ext cx="3506825" cy="2535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lt1"/>
                </a:solidFill>
              </a:rPr>
              <a:t>11</a:t>
            </a:r>
            <a:endParaRPr b="1"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5"/>
          <p:cNvSpPr/>
          <p:nvPr/>
        </p:nvSpPr>
        <p:spPr>
          <a:xfrm>
            <a:off x="661475" y="642838"/>
            <a:ext cx="6363731" cy="5020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Comparaison des approches</a:t>
            </a:r>
            <a:endParaRPr b="0" i="0" sz="3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661475" y="1417935"/>
            <a:ext cx="11478330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5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Synthèse des performances sur le jeu de test (20 images équilibrées).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661475" y="1809250"/>
            <a:ext cx="10868700" cy="3045000"/>
          </a:xfrm>
          <a:prstGeom prst="roundRect">
            <a:avLst>
              <a:gd fmla="val 4385" name="adj"/>
            </a:avLst>
          </a:prstGeom>
          <a:solidFill>
            <a:srgbClr val="CCFFEF"/>
          </a:solidFill>
          <a:ln cap="flat" cmpd="sng" w="76200">
            <a:solidFill>
              <a:srgbClr val="434343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5"/>
          <p:cNvSpPr/>
          <p:nvPr/>
        </p:nvSpPr>
        <p:spPr>
          <a:xfrm>
            <a:off x="828952" y="1903809"/>
            <a:ext cx="2094753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Approche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5"/>
          <p:cNvSpPr/>
          <p:nvPr/>
        </p:nvSpPr>
        <p:spPr>
          <a:xfrm>
            <a:off x="2641732" y="1903809"/>
            <a:ext cx="2091578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Acc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/>
          <p:nvPr/>
        </p:nvSpPr>
        <p:spPr>
          <a:xfrm>
            <a:off x="3881780" y="1903800"/>
            <a:ext cx="849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F1-macro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5"/>
          <p:cNvSpPr/>
          <p:nvPr/>
        </p:nvSpPr>
        <p:spPr>
          <a:xfrm>
            <a:off x="5110200" y="1903800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AUC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5"/>
          <p:cNvSpPr/>
          <p:nvPr/>
        </p:nvSpPr>
        <p:spPr>
          <a:xfrm>
            <a:off x="8593617" y="1903800"/>
            <a:ext cx="9843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Labels forts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5"/>
          <p:cNvSpPr/>
          <p:nvPr/>
        </p:nvSpPr>
        <p:spPr>
          <a:xfrm>
            <a:off x="9880154" y="1903809"/>
            <a:ext cx="2094753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Images utilisées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828952" y="2324298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K-Means (clustering pur)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5"/>
          <p:cNvSpPr/>
          <p:nvPr/>
        </p:nvSpPr>
        <p:spPr>
          <a:xfrm>
            <a:off x="2641732" y="2324298"/>
            <a:ext cx="2091578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5"/>
          <p:cNvSpPr/>
          <p:nvPr/>
        </p:nvSpPr>
        <p:spPr>
          <a:xfrm>
            <a:off x="3881780" y="2324290"/>
            <a:ext cx="849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5"/>
          <p:cNvSpPr/>
          <p:nvPr/>
        </p:nvSpPr>
        <p:spPr>
          <a:xfrm>
            <a:off x="5110200" y="2324291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5"/>
          <p:cNvSpPr/>
          <p:nvPr/>
        </p:nvSpPr>
        <p:spPr>
          <a:xfrm>
            <a:off x="8593617" y="2324290"/>
            <a:ext cx="9843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5"/>
          <p:cNvSpPr/>
          <p:nvPr/>
        </p:nvSpPr>
        <p:spPr>
          <a:xfrm>
            <a:off x="9880154" y="2324298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1 406 non labellisées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828952" y="2982516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 A (weak labels)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5"/>
          <p:cNvSpPr/>
          <p:nvPr/>
        </p:nvSpPr>
        <p:spPr>
          <a:xfrm>
            <a:off x="2641732" y="2982516"/>
            <a:ext cx="2091578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0,30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5"/>
          <p:cNvSpPr/>
          <p:nvPr/>
        </p:nvSpPr>
        <p:spPr>
          <a:xfrm>
            <a:off x="3881780" y="2982509"/>
            <a:ext cx="849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0,20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5"/>
          <p:cNvSpPr/>
          <p:nvPr/>
        </p:nvSpPr>
        <p:spPr>
          <a:xfrm>
            <a:off x="5110200" y="2982511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0,13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5"/>
          <p:cNvSpPr/>
          <p:nvPr/>
        </p:nvSpPr>
        <p:spPr>
          <a:xfrm>
            <a:off x="8593617" y="2982509"/>
            <a:ext cx="9843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5"/>
          <p:cNvSpPr/>
          <p:nvPr/>
        </p:nvSpPr>
        <p:spPr>
          <a:xfrm>
            <a:off x="9880154" y="2982516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1 406 pseudo-labels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5"/>
          <p:cNvSpPr/>
          <p:nvPr/>
        </p:nvSpPr>
        <p:spPr>
          <a:xfrm>
            <a:off x="828952" y="3640733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Modèle B (fine-tuning)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5"/>
          <p:cNvSpPr/>
          <p:nvPr/>
        </p:nvSpPr>
        <p:spPr>
          <a:xfrm>
            <a:off x="2641732" y="3640733"/>
            <a:ext cx="2091578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0,95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5"/>
          <p:cNvSpPr/>
          <p:nvPr/>
        </p:nvSpPr>
        <p:spPr>
          <a:xfrm>
            <a:off x="3881780" y="3640728"/>
            <a:ext cx="849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0,95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5"/>
          <p:cNvSpPr/>
          <p:nvPr/>
        </p:nvSpPr>
        <p:spPr>
          <a:xfrm>
            <a:off x="5110200" y="3640730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1,00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5"/>
          <p:cNvSpPr/>
          <p:nvPr/>
        </p:nvSpPr>
        <p:spPr>
          <a:xfrm>
            <a:off x="8593617" y="3640728"/>
            <a:ext cx="9843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80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5"/>
          <p:cNvSpPr/>
          <p:nvPr/>
        </p:nvSpPr>
        <p:spPr>
          <a:xfrm>
            <a:off x="9880154" y="3640733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1 406 weak + 80 forts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5"/>
          <p:cNvSpPr/>
          <p:nvPr/>
        </p:nvSpPr>
        <p:spPr>
          <a:xfrm>
            <a:off x="828952" y="4298950"/>
            <a:ext cx="1485168" cy="713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Pseudo-labellisation (itératif)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5"/>
          <p:cNvSpPr/>
          <p:nvPr/>
        </p:nvSpPr>
        <p:spPr>
          <a:xfrm>
            <a:off x="2641732" y="4298950"/>
            <a:ext cx="2091578" cy="237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0,88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5"/>
          <p:cNvSpPr/>
          <p:nvPr/>
        </p:nvSpPr>
        <p:spPr>
          <a:xfrm>
            <a:off x="3881780" y="4298946"/>
            <a:ext cx="849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0,88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5"/>
          <p:cNvSpPr/>
          <p:nvPr/>
        </p:nvSpPr>
        <p:spPr>
          <a:xfrm>
            <a:off x="5110200" y="4298950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0,87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5"/>
          <p:cNvSpPr/>
          <p:nvPr/>
        </p:nvSpPr>
        <p:spPr>
          <a:xfrm>
            <a:off x="8593617" y="4298946"/>
            <a:ext cx="9843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50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5"/>
          <p:cNvSpPr/>
          <p:nvPr/>
        </p:nvSpPr>
        <p:spPr>
          <a:xfrm>
            <a:off x="9880154" y="4298950"/>
            <a:ext cx="1485168" cy="475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50 forts + 1 406 pseudo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5"/>
          <p:cNvSpPr/>
          <p:nvPr/>
        </p:nvSpPr>
        <p:spPr>
          <a:xfrm>
            <a:off x="4475125" y="5060325"/>
            <a:ext cx="3288300" cy="1458300"/>
          </a:xfrm>
          <a:prstGeom prst="roundRect">
            <a:avLst>
              <a:gd fmla="val 18046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5"/>
          <p:cNvSpPr/>
          <p:nvPr/>
        </p:nvSpPr>
        <p:spPr>
          <a:xfrm>
            <a:off x="4642900" y="5228925"/>
            <a:ext cx="31206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rPr b="1" lang="en-US" sz="1350">
                <a:latin typeface="Geist"/>
                <a:ea typeface="Geist"/>
                <a:cs typeface="Geist"/>
                <a:sym typeface="Geist"/>
              </a:rPr>
              <a:t>Pseudo-labellisation — Meilleur compromis</a:t>
            </a:r>
            <a:endParaRPr b="1" sz="1350"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rPr lang="en-US" sz="1350">
                <a:latin typeface="Geist"/>
                <a:ea typeface="Geist"/>
                <a:cs typeface="Geist"/>
                <a:sym typeface="Geist"/>
              </a:rPr>
              <a:t>C'est le meilleur compromis annotation/performance pour un déploiement en conditions réelles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5"/>
          <p:cNvSpPr/>
          <p:nvPr/>
        </p:nvSpPr>
        <p:spPr>
          <a:xfrm>
            <a:off x="6250617" y="1905092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Rappel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5"/>
          <p:cNvSpPr/>
          <p:nvPr/>
        </p:nvSpPr>
        <p:spPr>
          <a:xfrm>
            <a:off x="6250617" y="2325582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5"/>
          <p:cNvSpPr/>
          <p:nvPr/>
        </p:nvSpPr>
        <p:spPr>
          <a:xfrm>
            <a:off x="6250617" y="2983802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60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5"/>
          <p:cNvSpPr/>
          <p:nvPr/>
        </p:nvSpPr>
        <p:spPr>
          <a:xfrm>
            <a:off x="6250617" y="3642022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1,00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5"/>
          <p:cNvSpPr/>
          <p:nvPr/>
        </p:nvSpPr>
        <p:spPr>
          <a:xfrm>
            <a:off x="6250617" y="4300241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0,8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4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5"/>
          <p:cNvSpPr/>
          <p:nvPr/>
        </p:nvSpPr>
        <p:spPr>
          <a:xfrm>
            <a:off x="7332915" y="1906383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Prec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5"/>
          <p:cNvSpPr/>
          <p:nvPr/>
        </p:nvSpPr>
        <p:spPr>
          <a:xfrm>
            <a:off x="7332915" y="2326874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5"/>
          <p:cNvSpPr/>
          <p:nvPr/>
        </p:nvSpPr>
        <p:spPr>
          <a:xfrm>
            <a:off x="7332915" y="2985094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0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37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5"/>
          <p:cNvSpPr/>
          <p:nvPr/>
        </p:nvSpPr>
        <p:spPr>
          <a:xfrm>
            <a:off x="7332915" y="3643313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1,00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5"/>
          <p:cNvSpPr/>
          <p:nvPr/>
        </p:nvSpPr>
        <p:spPr>
          <a:xfrm>
            <a:off x="7332915" y="4301533"/>
            <a:ext cx="6087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250"/>
              <a:buFont typeface="Geist"/>
              <a:buNone/>
            </a:pPr>
            <a:r>
              <a:rPr i="0" lang="en-US" sz="12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0,</a:t>
            </a:r>
            <a:r>
              <a:rPr lang="en-US" sz="1250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91</a:t>
            </a:r>
            <a:endParaRPr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5"/>
          <p:cNvSpPr/>
          <p:nvPr/>
        </p:nvSpPr>
        <p:spPr>
          <a:xfrm>
            <a:off x="661475" y="5057900"/>
            <a:ext cx="3581100" cy="1458300"/>
          </a:xfrm>
          <a:prstGeom prst="roundRect">
            <a:avLst>
              <a:gd fmla="val 18046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5"/>
          <p:cNvSpPr/>
          <p:nvPr/>
        </p:nvSpPr>
        <p:spPr>
          <a:xfrm>
            <a:off x="826617" y="5226500"/>
            <a:ext cx="32304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rPr b="1" lang="en-US" sz="1350">
                <a:latin typeface="Geist"/>
                <a:ea typeface="Geist"/>
                <a:cs typeface="Geist"/>
                <a:sym typeface="Geist"/>
              </a:rPr>
              <a:t>Modèle B – Performance maximale</a:t>
            </a:r>
            <a:endParaRPr b="1" sz="1350"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rPr lang="en-US" sz="1350">
                <a:latin typeface="Geist"/>
                <a:ea typeface="Geist"/>
                <a:cs typeface="Geist"/>
                <a:sym typeface="Geist"/>
              </a:rPr>
              <a:t>80 images annotées pour le fine-tuning. Il représente la solution optimale lorsque le budget d'annotation le permet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5"/>
          <p:cNvSpPr/>
          <p:nvPr/>
        </p:nvSpPr>
        <p:spPr>
          <a:xfrm>
            <a:off x="8008961" y="5060325"/>
            <a:ext cx="3581100" cy="1458300"/>
          </a:xfrm>
          <a:prstGeom prst="roundRect">
            <a:avLst>
              <a:gd fmla="val 18046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5"/>
          <p:cNvSpPr/>
          <p:nvPr/>
        </p:nvSpPr>
        <p:spPr>
          <a:xfrm>
            <a:off x="8174102" y="5228925"/>
            <a:ext cx="32304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rPr b="1" lang="en-US" sz="1350">
                <a:latin typeface="Geist"/>
                <a:ea typeface="Geist"/>
                <a:cs typeface="Geist"/>
                <a:sym typeface="Geist"/>
              </a:rPr>
              <a:t>Warm smart - indispensable</a:t>
            </a:r>
            <a:endParaRPr b="1" sz="1350"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rPr lang="en-US" sz="1350">
                <a:latin typeface="Geist"/>
                <a:ea typeface="Geist"/>
                <a:cs typeface="Geist"/>
                <a:sym typeface="Geist"/>
              </a:rPr>
              <a:t>il structure l'espace des features avant le fine-tuning, </a:t>
            </a:r>
            <a:r>
              <a:rPr lang="en-US" sz="1350">
                <a:latin typeface="Geist"/>
                <a:ea typeface="Geist"/>
                <a:cs typeface="Geist"/>
                <a:sym typeface="Geist"/>
              </a:rPr>
              <a:t>améliorant</a:t>
            </a:r>
            <a:r>
              <a:rPr lang="en-US" sz="1350">
                <a:latin typeface="Geist"/>
                <a:ea typeface="Geist"/>
                <a:cs typeface="Geist"/>
                <a:sym typeface="Geist"/>
              </a:rPr>
              <a:t> significativement la convergence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5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lt1"/>
                </a:solidFill>
              </a:rPr>
              <a:t>12</a:t>
            </a:r>
            <a:endParaRPr b="1"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6"/>
          <p:cNvSpPr/>
          <p:nvPr/>
        </p:nvSpPr>
        <p:spPr>
          <a:xfrm>
            <a:off x="661475" y="1027708"/>
            <a:ext cx="8749783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6747"/>
              </a:buClr>
              <a:buSzPts val="3700"/>
              <a:buFont typeface="Arial"/>
              <a:buNone/>
            </a:pPr>
            <a:r>
              <a:rPr b="1" i="0" lang="en-US" sz="3700" u="none" cap="none" strike="noStrike">
                <a:solidFill>
                  <a:srgbClr val="006747"/>
                </a:solidFill>
                <a:latin typeface="Arial"/>
                <a:ea typeface="Arial"/>
                <a:cs typeface="Arial"/>
                <a:sym typeface="Arial"/>
              </a:rPr>
              <a:t>Recommandations &amp; Perspectives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usinessman racing against time, Grayscale (fourni par Getty Images)" id="249" name="Google Shape;249;p16"/>
          <p:cNvPicPr preferRelativeResize="0"/>
          <p:nvPr/>
        </p:nvPicPr>
        <p:blipFill rotWithShape="1">
          <a:blip r:embed="rId3">
            <a:alphaModFix/>
          </a:blip>
          <a:srcRect b="8089" l="0" r="0" t="8089"/>
          <a:stretch/>
        </p:blipFill>
        <p:spPr>
          <a:xfrm>
            <a:off x="661475" y="1996380"/>
            <a:ext cx="2009923" cy="124222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6"/>
          <p:cNvSpPr/>
          <p:nvPr/>
        </p:nvSpPr>
        <p:spPr>
          <a:xfrm>
            <a:off x="661475" y="3474839"/>
            <a:ext cx="2362637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Court terme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661475" y="3883524"/>
            <a:ext cx="3465300" cy="12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Augmentation de données : flip, rotation, contraste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Annoter en priorité les 47 images ambiguës (confiance &lt; 0,95)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6"/>
          <p:cNvSpPr/>
          <p:nvPr/>
        </p:nvSpPr>
        <p:spPr>
          <a:xfrm>
            <a:off x="4363135" y="3474839"/>
            <a:ext cx="2362637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Moyen terme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6"/>
          <p:cNvSpPr/>
          <p:nvPr/>
        </p:nvSpPr>
        <p:spPr>
          <a:xfrm>
            <a:off x="4363125" y="3883524"/>
            <a:ext cx="3465300" cy="12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Tester EfficientNet-B4, ViT-B/16 (RadImageNet)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Valider sur un jeu externe (autre hôpital)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6"/>
          <p:cNvSpPr/>
          <p:nvPr/>
        </p:nvSpPr>
        <p:spPr>
          <a:xfrm>
            <a:off x="8064794" y="3474839"/>
            <a:ext cx="2362637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4B4A4A"/>
                </a:solidFill>
                <a:latin typeface="Arial"/>
                <a:ea typeface="Arial"/>
                <a:cs typeface="Arial"/>
                <a:sym typeface="Arial"/>
              </a:rPr>
              <a:t>Long terme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6"/>
          <p:cNvSpPr/>
          <p:nvPr/>
        </p:nvSpPr>
        <p:spPr>
          <a:xfrm>
            <a:off x="8064800" y="3883524"/>
            <a:ext cx="34653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B4A4A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4B4A4A"/>
                </a:solidFill>
                <a:latin typeface="Geist"/>
                <a:ea typeface="Geist"/>
                <a:cs typeface="Geist"/>
                <a:sym typeface="Geist"/>
              </a:rPr>
              <a:t>Pipeline de ré-entraînement continu au fil des annotations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/>
          <p:nvPr/>
        </p:nvSpPr>
        <p:spPr>
          <a:xfrm>
            <a:off x="661475" y="5260273"/>
            <a:ext cx="10868700" cy="1109400"/>
          </a:xfrm>
          <a:prstGeom prst="roundRect">
            <a:avLst>
              <a:gd fmla="val 18046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7" name="Google Shape;25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106" y="547915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6"/>
          <p:cNvSpPr/>
          <p:nvPr/>
        </p:nvSpPr>
        <p:spPr>
          <a:xfrm>
            <a:off x="1183550" y="5423201"/>
            <a:ext cx="10185900" cy="7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Geist"/>
                <a:ea typeface="Geist"/>
                <a:cs typeface="Geist"/>
                <a:sym typeface="Geist"/>
              </a:rPr>
              <a:t>BrainScanAI démontre qu'il est possible d'atteindre des performances quasi-parfaites (AUC=1,00) avec seulement 80 images annotées sur 1 506, grâce à une combinaison judicieuse de transfer learning, clustering et pseudo-labellisation itératif.</a:t>
            </a:r>
            <a:endParaRPr sz="1600">
              <a:solidFill>
                <a:schemeClr val="dk1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Geist"/>
              <a:buNone/>
            </a:pPr>
            <a:r>
              <a:t/>
            </a:r>
            <a:endParaRPr sz="2050">
              <a:latin typeface="Geist"/>
              <a:ea typeface="Geist"/>
              <a:cs typeface="Geist"/>
              <a:sym typeface="Geist"/>
            </a:endParaRPr>
          </a:p>
        </p:txBody>
      </p:sp>
      <p:pic>
        <p:nvPicPr>
          <p:cNvPr descr="Flat business vector concept of analysis and strategy for good and growth chart performance of profit working and time management. (fourni par Getty Images)" id="259" name="Google Shape;259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64800" y="1954088"/>
            <a:ext cx="2009923" cy="14073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ranslator or Translation Language Illustration. Say hello in Different Countries and Multilingual International Communication Cartoon Design (fourni par Getty Images)" id="260" name="Google Shape;260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09725" y="1996375"/>
            <a:ext cx="1928264" cy="13576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6"/>
          <p:cNvSpPr/>
          <p:nvPr/>
        </p:nvSpPr>
        <p:spPr>
          <a:xfrm>
            <a:off x="11627981" y="10"/>
            <a:ext cx="563700" cy="472500"/>
          </a:xfrm>
          <a:prstGeom prst="hexagon">
            <a:avLst>
              <a:gd fmla="val 28852" name="adj"/>
              <a:gd fmla="val 115470" name="vf"/>
            </a:avLst>
          </a:prstGeom>
          <a:solidFill>
            <a:srgbClr val="0067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lt1"/>
                </a:solidFill>
              </a:rPr>
              <a:t>13</a:t>
            </a:r>
            <a:endParaRPr b="1"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